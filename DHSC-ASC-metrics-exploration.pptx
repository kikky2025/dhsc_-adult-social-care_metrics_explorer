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8" r:id="rId4"/>
    <p:sldId id="270" r:id="rId5"/>
    <p:sldId id="259" r:id="rId6"/>
    <p:sldId id="260" r:id="rId7"/>
    <p:sldId id="283" r:id="rId8"/>
    <p:sldId id="25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0E0"/>
    <a:srgbClr val="FFFBEB"/>
    <a:srgbClr val="00A188"/>
    <a:srgbClr val="D3C9E5"/>
    <a:srgbClr val="A892CB"/>
    <a:srgbClr val="7C5CB2"/>
    <a:srgbClr val="512698"/>
    <a:srgbClr val="6162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838A5-C0E7-4C07-A75B-DEEE8A4DC52C}" v="14" dt="2026-08-19T11:11:03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70" autoAdjust="0"/>
    <p:restoredTop sz="94646" autoAdjust="0"/>
  </p:normalViewPr>
  <p:slideViewPr>
    <p:cSldViewPr snapToGrid="0">
      <p:cViewPr varScale="1">
        <p:scale>
          <a:sx n="49" d="100"/>
          <a:sy n="49" d="100"/>
        </p:scale>
        <p:origin x="64" y="3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unjimi, Kikelomo" userId="8a598660-b1e8-400c-931e-09193f227cba" providerId="ADAL" clId="{76E71C78-059F-40B6-A1BF-84A0454EBFFA}"/>
    <pc:docChg chg="undo custSel delSld modSld">
      <pc:chgData name="Ogunjimi, Kikelomo" userId="8a598660-b1e8-400c-931e-09193f227cba" providerId="ADAL" clId="{76E71C78-059F-40B6-A1BF-84A0454EBFFA}" dt="2026-08-19T19:05:18.304" v="616" actId="20577"/>
      <pc:docMkLst>
        <pc:docMk/>
      </pc:docMkLst>
      <pc:sldChg chg="modSp mod">
        <pc:chgData name="Ogunjimi, Kikelomo" userId="8a598660-b1e8-400c-931e-09193f227cba" providerId="ADAL" clId="{76E71C78-059F-40B6-A1BF-84A0454EBFFA}" dt="2026-08-19T14:58:09.239" v="464" actId="20577"/>
        <pc:sldMkLst>
          <pc:docMk/>
          <pc:sldMk cId="3176832151" sldId="256"/>
        </pc:sldMkLst>
        <pc:spChg chg="mod">
          <ac:chgData name="Ogunjimi, Kikelomo" userId="8a598660-b1e8-400c-931e-09193f227cba" providerId="ADAL" clId="{76E71C78-059F-40B6-A1BF-84A0454EBFFA}" dt="2026-08-19T10:16:35.323" v="36" actId="20577"/>
          <ac:spMkLst>
            <pc:docMk/>
            <pc:sldMk cId="3176832151" sldId="256"/>
            <ac:spMk id="4" creationId="{A070E482-A125-4833-B712-67EC9E72E5F2}"/>
          </ac:spMkLst>
        </pc:spChg>
        <pc:spChg chg="mod">
          <ac:chgData name="Ogunjimi, Kikelomo" userId="8a598660-b1e8-400c-931e-09193f227cba" providerId="ADAL" clId="{76E71C78-059F-40B6-A1BF-84A0454EBFFA}" dt="2026-08-19T10:17:52.033" v="39"/>
          <ac:spMkLst>
            <pc:docMk/>
            <pc:sldMk cId="3176832151" sldId="256"/>
            <ac:spMk id="5" creationId="{F9E4C3DD-0C15-4059-95FA-4122D45E2BAB}"/>
          </ac:spMkLst>
        </pc:spChg>
        <pc:spChg chg="mod">
          <ac:chgData name="Ogunjimi, Kikelomo" userId="8a598660-b1e8-400c-931e-09193f227cba" providerId="ADAL" clId="{76E71C78-059F-40B6-A1BF-84A0454EBFFA}" dt="2026-08-19T14:58:09.239" v="464" actId="20577"/>
          <ac:spMkLst>
            <pc:docMk/>
            <pc:sldMk cId="3176832151" sldId="256"/>
            <ac:spMk id="6" creationId="{CB69CF3D-3ED7-4E40-8980-547EF27F078A}"/>
          </ac:spMkLst>
        </pc:spChg>
      </pc:sldChg>
      <pc:sldChg chg="modSp mod">
        <pc:chgData name="Ogunjimi, Kikelomo" userId="8a598660-b1e8-400c-931e-09193f227cba" providerId="ADAL" clId="{76E71C78-059F-40B6-A1BF-84A0454EBFFA}" dt="2026-08-19T14:46:04.338" v="221" actId="20577"/>
        <pc:sldMkLst>
          <pc:docMk/>
          <pc:sldMk cId="343364716" sldId="257"/>
        </pc:sldMkLst>
        <pc:spChg chg="mod">
          <ac:chgData name="Ogunjimi, Kikelomo" userId="8a598660-b1e8-400c-931e-09193f227cba" providerId="ADAL" clId="{76E71C78-059F-40B6-A1BF-84A0454EBFFA}" dt="2026-08-19T14:46:04.338" v="221" actId="20577"/>
          <ac:spMkLst>
            <pc:docMk/>
            <pc:sldMk cId="343364716" sldId="257"/>
            <ac:spMk id="21" creationId="{F7C8595F-91A0-1DE8-9BCD-F4B74F3EDEEF}"/>
          </ac:spMkLst>
        </pc:spChg>
      </pc:sldChg>
      <pc:sldChg chg="modSp mod">
        <pc:chgData name="Ogunjimi, Kikelomo" userId="8a598660-b1e8-400c-931e-09193f227cba" providerId="ADAL" clId="{76E71C78-059F-40B6-A1BF-84A0454EBFFA}" dt="2026-08-19T15:08:15.967" v="508" actId="14100"/>
        <pc:sldMkLst>
          <pc:docMk/>
          <pc:sldMk cId="2510644384" sldId="258"/>
        </pc:sldMkLst>
        <pc:spChg chg="mod">
          <ac:chgData name="Ogunjimi, Kikelomo" userId="8a598660-b1e8-400c-931e-09193f227cba" providerId="ADAL" clId="{76E71C78-059F-40B6-A1BF-84A0454EBFFA}" dt="2026-08-19T15:08:09.283" v="506" actId="14100"/>
          <ac:spMkLst>
            <pc:docMk/>
            <pc:sldMk cId="2510644384" sldId="258"/>
            <ac:spMk id="10" creationId="{EE552CFE-CD80-9449-B247-EFA3F3547686}"/>
          </ac:spMkLst>
        </pc:spChg>
        <pc:spChg chg="mod">
          <ac:chgData name="Ogunjimi, Kikelomo" userId="8a598660-b1e8-400c-931e-09193f227cba" providerId="ADAL" clId="{76E71C78-059F-40B6-A1BF-84A0454EBFFA}" dt="2026-08-19T15:08:12.685" v="507" actId="14100"/>
          <ac:spMkLst>
            <pc:docMk/>
            <pc:sldMk cId="2510644384" sldId="258"/>
            <ac:spMk id="13" creationId="{61F6C785-D042-713E-53DB-ED9DD7035E86}"/>
          </ac:spMkLst>
        </pc:spChg>
        <pc:spChg chg="mod">
          <ac:chgData name="Ogunjimi, Kikelomo" userId="8a598660-b1e8-400c-931e-09193f227cba" providerId="ADAL" clId="{76E71C78-059F-40B6-A1BF-84A0454EBFFA}" dt="2026-08-19T15:08:15.967" v="508" actId="14100"/>
          <ac:spMkLst>
            <pc:docMk/>
            <pc:sldMk cId="2510644384" sldId="258"/>
            <ac:spMk id="15" creationId="{0E550D64-177E-AA0D-4A11-1D22F1BCE62E}"/>
          </ac:spMkLst>
        </pc:spChg>
      </pc:sldChg>
      <pc:sldChg chg="modSp mod">
        <pc:chgData name="Ogunjimi, Kikelomo" userId="8a598660-b1e8-400c-931e-09193f227cba" providerId="ADAL" clId="{76E71C78-059F-40B6-A1BF-84A0454EBFFA}" dt="2026-08-19T19:05:18.304" v="616" actId="20577"/>
        <pc:sldMkLst>
          <pc:docMk/>
          <pc:sldMk cId="1549076778" sldId="260"/>
        </pc:sldMkLst>
        <pc:spChg chg="mod">
          <ac:chgData name="Ogunjimi, Kikelomo" userId="8a598660-b1e8-400c-931e-09193f227cba" providerId="ADAL" clId="{76E71C78-059F-40B6-A1BF-84A0454EBFFA}" dt="2026-08-19T15:14:30.960" v="546" actId="20577"/>
          <ac:spMkLst>
            <pc:docMk/>
            <pc:sldMk cId="1549076778" sldId="260"/>
            <ac:spMk id="28" creationId="{FEACDDE6-2AF1-5473-E86C-0A0A8D82B795}"/>
          </ac:spMkLst>
        </pc:spChg>
        <pc:spChg chg="mod">
          <ac:chgData name="Ogunjimi, Kikelomo" userId="8a598660-b1e8-400c-931e-09193f227cba" providerId="ADAL" clId="{76E71C78-059F-40B6-A1BF-84A0454EBFFA}" dt="2026-08-19T19:05:18.304" v="616" actId="20577"/>
          <ac:spMkLst>
            <pc:docMk/>
            <pc:sldMk cId="1549076778" sldId="260"/>
            <ac:spMk id="34" creationId="{4377227C-B348-AC31-9950-8F04CB137737}"/>
          </ac:spMkLst>
        </pc:spChg>
      </pc:sldChg>
      <pc:sldChg chg="addSp delSp modSp mod">
        <pc:chgData name="Ogunjimi, Kikelomo" userId="8a598660-b1e8-400c-931e-09193f227cba" providerId="ADAL" clId="{76E71C78-059F-40B6-A1BF-84A0454EBFFA}" dt="2026-08-19T15:03:52.194" v="494" actId="1076"/>
        <pc:sldMkLst>
          <pc:docMk/>
          <pc:sldMk cId="2659815300" sldId="261"/>
        </pc:sldMkLst>
        <pc:spChg chg="mod">
          <ac:chgData name="Ogunjimi, Kikelomo" userId="8a598660-b1e8-400c-931e-09193f227cba" providerId="ADAL" clId="{76E71C78-059F-40B6-A1BF-84A0454EBFFA}" dt="2026-08-19T10:27:46.493" v="57"/>
          <ac:spMkLst>
            <pc:docMk/>
            <pc:sldMk cId="2659815300" sldId="261"/>
            <ac:spMk id="2" creationId="{FD1A99DE-87FA-4077-A625-056F62D1767F}"/>
          </ac:spMkLst>
        </pc:spChg>
        <pc:spChg chg="add del mod">
          <ac:chgData name="Ogunjimi, Kikelomo" userId="8a598660-b1e8-400c-931e-09193f227cba" providerId="ADAL" clId="{76E71C78-059F-40B6-A1BF-84A0454EBFFA}" dt="2026-08-19T10:29:10.702" v="71" actId="22"/>
          <ac:spMkLst>
            <pc:docMk/>
            <pc:sldMk cId="2659815300" sldId="261"/>
            <ac:spMk id="4" creationId="{5C0C4681-13B0-2CAC-748D-2E665AA5A023}"/>
          </ac:spMkLst>
        </pc:spChg>
        <pc:spChg chg="add mod">
          <ac:chgData name="Ogunjimi, Kikelomo" userId="8a598660-b1e8-400c-931e-09193f227cba" providerId="ADAL" clId="{76E71C78-059F-40B6-A1BF-84A0454EBFFA}" dt="2026-08-19T15:02:57.070" v="489" actId="1076"/>
          <ac:spMkLst>
            <pc:docMk/>
            <pc:sldMk cId="2659815300" sldId="261"/>
            <ac:spMk id="4" creationId="{BE8D1FEB-30CF-E194-B47C-C1C8E8C63D6A}"/>
          </ac:spMkLst>
        </pc:spChg>
        <pc:spChg chg="add mod">
          <ac:chgData name="Ogunjimi, Kikelomo" userId="8a598660-b1e8-400c-931e-09193f227cba" providerId="ADAL" clId="{76E71C78-059F-40B6-A1BF-84A0454EBFFA}" dt="2026-08-19T10:41:09.939" v="189" actId="120"/>
          <ac:spMkLst>
            <pc:docMk/>
            <pc:sldMk cId="2659815300" sldId="261"/>
            <ac:spMk id="6" creationId="{57CFC01B-2ADB-22B3-D2C3-0EED350EF418}"/>
          </ac:spMkLst>
        </pc:spChg>
        <pc:spChg chg="add mod">
          <ac:chgData name="Ogunjimi, Kikelomo" userId="8a598660-b1e8-400c-931e-09193f227cba" providerId="ADAL" clId="{76E71C78-059F-40B6-A1BF-84A0454EBFFA}" dt="2026-08-19T15:03:27.505" v="492" actId="1076"/>
          <ac:spMkLst>
            <pc:docMk/>
            <pc:sldMk cId="2659815300" sldId="261"/>
            <ac:spMk id="7" creationId="{B22039D2-189B-2262-493C-0E3C24E0B602}"/>
          </ac:spMkLst>
        </pc:spChg>
        <pc:spChg chg="add mod">
          <ac:chgData name="Ogunjimi, Kikelomo" userId="8a598660-b1e8-400c-931e-09193f227cba" providerId="ADAL" clId="{76E71C78-059F-40B6-A1BF-84A0454EBFFA}" dt="2026-08-19T15:02:48.615" v="488" actId="14100"/>
          <ac:spMkLst>
            <pc:docMk/>
            <pc:sldMk cId="2659815300" sldId="261"/>
            <ac:spMk id="8" creationId="{D121E975-FBA7-2C3F-DE04-6B2E056F938E}"/>
          </ac:spMkLst>
        </pc:spChg>
        <pc:spChg chg="add mod">
          <ac:chgData name="Ogunjimi, Kikelomo" userId="8a598660-b1e8-400c-931e-09193f227cba" providerId="ADAL" clId="{76E71C78-059F-40B6-A1BF-84A0454EBFFA}" dt="2026-08-19T15:01:32.717" v="475" actId="1076"/>
          <ac:spMkLst>
            <pc:docMk/>
            <pc:sldMk cId="2659815300" sldId="261"/>
            <ac:spMk id="12" creationId="{4F81B701-2375-9FC5-3C81-41C49F8B1F5E}"/>
          </ac:spMkLst>
        </pc:spChg>
        <pc:spChg chg="add del">
          <ac:chgData name="Ogunjimi, Kikelomo" userId="8a598660-b1e8-400c-931e-09193f227cba" providerId="ADAL" clId="{76E71C78-059F-40B6-A1BF-84A0454EBFFA}" dt="2026-08-19T10:42:10.359" v="192" actId="478"/>
          <ac:spMkLst>
            <pc:docMk/>
            <pc:sldMk cId="2659815300" sldId="261"/>
            <ac:spMk id="14" creationId="{DFD6274D-CA64-ED9B-5510-83CA2CD04862}"/>
          </ac:spMkLst>
        </pc:spChg>
        <pc:spChg chg="add del mod">
          <ac:chgData name="Ogunjimi, Kikelomo" userId="8a598660-b1e8-400c-931e-09193f227cba" providerId="ADAL" clId="{76E71C78-059F-40B6-A1BF-84A0454EBFFA}" dt="2026-08-19T10:47:19.134" v="206" actId="478"/>
          <ac:spMkLst>
            <pc:docMk/>
            <pc:sldMk cId="2659815300" sldId="261"/>
            <ac:spMk id="18" creationId="{C4FC773A-C25E-1C9B-5A07-D287F0BC508C}"/>
          </ac:spMkLst>
        </pc:spChg>
        <pc:spChg chg="mod">
          <ac:chgData name="Ogunjimi, Kikelomo" userId="8a598660-b1e8-400c-931e-09193f227cba" providerId="ADAL" clId="{76E71C78-059F-40B6-A1BF-84A0454EBFFA}" dt="2026-08-19T15:02:34.691" v="486" actId="14100"/>
          <ac:spMkLst>
            <pc:docMk/>
            <pc:sldMk cId="2659815300" sldId="261"/>
            <ac:spMk id="19" creationId="{2EE3D81E-A161-4A85-970D-6064545322C3}"/>
          </ac:spMkLst>
        </pc:spChg>
        <pc:spChg chg="mod">
          <ac:chgData name="Ogunjimi, Kikelomo" userId="8a598660-b1e8-400c-931e-09193f227cba" providerId="ADAL" clId="{76E71C78-059F-40B6-A1BF-84A0454EBFFA}" dt="2026-08-19T15:02:42.653" v="487" actId="14100"/>
          <ac:spMkLst>
            <pc:docMk/>
            <pc:sldMk cId="2659815300" sldId="261"/>
            <ac:spMk id="20" creationId="{72D170EB-C6CA-409F-B6A9-094557011F78}"/>
          </ac:spMkLst>
        </pc:spChg>
        <pc:spChg chg="del mod">
          <ac:chgData name="Ogunjimi, Kikelomo" userId="8a598660-b1e8-400c-931e-09193f227cba" providerId="ADAL" clId="{76E71C78-059F-40B6-A1BF-84A0454EBFFA}" dt="2026-08-19T15:02:02.140" v="479" actId="478"/>
          <ac:spMkLst>
            <pc:docMk/>
            <pc:sldMk cId="2659815300" sldId="261"/>
            <ac:spMk id="21" creationId="{3F23F0E2-5DCB-434F-8FA3-E099D66F298C}"/>
          </ac:spMkLst>
        </pc:spChg>
        <pc:spChg chg="del mod">
          <ac:chgData name="Ogunjimi, Kikelomo" userId="8a598660-b1e8-400c-931e-09193f227cba" providerId="ADAL" clId="{76E71C78-059F-40B6-A1BF-84A0454EBFFA}" dt="2026-08-19T10:36:06.412" v="154" actId="478"/>
          <ac:spMkLst>
            <pc:docMk/>
            <pc:sldMk cId="2659815300" sldId="261"/>
            <ac:spMk id="22" creationId="{74BE4040-80FD-4AC7-BC27-A534ED7E4871}"/>
          </ac:spMkLst>
        </pc:spChg>
        <pc:spChg chg="add del">
          <ac:chgData name="Ogunjimi, Kikelomo" userId="8a598660-b1e8-400c-931e-09193f227cba" providerId="ADAL" clId="{76E71C78-059F-40B6-A1BF-84A0454EBFFA}" dt="2026-08-19T10:47:42.211" v="208" actId="478"/>
          <ac:spMkLst>
            <pc:docMk/>
            <pc:sldMk cId="2659815300" sldId="261"/>
            <ac:spMk id="24" creationId="{4A84693E-7552-635C-DFC6-9E82A7357598}"/>
          </ac:spMkLst>
        </pc:spChg>
        <pc:spChg chg="add mod">
          <ac:chgData name="Ogunjimi, Kikelomo" userId="8a598660-b1e8-400c-931e-09193f227cba" providerId="ADAL" clId="{76E71C78-059F-40B6-A1BF-84A0454EBFFA}" dt="2026-08-19T15:03:52.194" v="494" actId="1076"/>
          <ac:spMkLst>
            <pc:docMk/>
            <pc:sldMk cId="2659815300" sldId="261"/>
            <ac:spMk id="26" creationId="{C94FAA58-5DC8-D3EA-269C-16DA3031AFDE}"/>
          </ac:spMkLst>
        </pc:spChg>
        <pc:picChg chg="add mod">
          <ac:chgData name="Ogunjimi, Kikelomo" userId="8a598660-b1e8-400c-931e-09193f227cba" providerId="ADAL" clId="{76E71C78-059F-40B6-A1BF-84A0454EBFFA}" dt="2026-08-19T15:00:01.957" v="471" actId="1076"/>
          <ac:picMkLst>
            <pc:docMk/>
            <pc:sldMk cId="2659815300" sldId="261"/>
            <ac:picMk id="16" creationId="{CDD2632B-DADD-7897-37FA-420A7D584393}"/>
          </ac:picMkLst>
        </pc:picChg>
      </pc:sldChg>
      <pc:sldChg chg="modSp mod">
        <pc:chgData name="Ogunjimi, Kikelomo" userId="8a598660-b1e8-400c-931e-09193f227cba" providerId="ADAL" clId="{76E71C78-059F-40B6-A1BF-84A0454EBFFA}" dt="2026-08-19T10:25:51.001" v="56" actId="1036"/>
        <pc:sldMkLst>
          <pc:docMk/>
          <pc:sldMk cId="1341228377" sldId="263"/>
        </pc:sldMkLst>
        <pc:picChg chg="mod">
          <ac:chgData name="Ogunjimi, Kikelomo" userId="8a598660-b1e8-400c-931e-09193f227cba" providerId="ADAL" clId="{76E71C78-059F-40B6-A1BF-84A0454EBFFA}" dt="2026-08-19T10:25:51.001" v="56" actId="1036"/>
          <ac:picMkLst>
            <pc:docMk/>
            <pc:sldMk cId="1341228377" sldId="263"/>
            <ac:picMk id="26" creationId="{7FF65630-3695-46E0-A22B-E9A0F77A599F}"/>
          </ac:picMkLst>
        </pc:picChg>
      </pc:sldChg>
      <pc:sldChg chg="modSp mod">
        <pc:chgData name="Ogunjimi, Kikelomo" userId="8a598660-b1e8-400c-931e-09193f227cba" providerId="ADAL" clId="{76E71C78-059F-40B6-A1BF-84A0454EBFFA}" dt="2026-08-19T15:11:36.120" v="515" actId="20577"/>
        <pc:sldMkLst>
          <pc:docMk/>
          <pc:sldMk cId="1587848564" sldId="268"/>
        </pc:sldMkLst>
        <pc:spChg chg="mod">
          <ac:chgData name="Ogunjimi, Kikelomo" userId="8a598660-b1e8-400c-931e-09193f227cba" providerId="ADAL" clId="{76E71C78-059F-40B6-A1BF-84A0454EBFFA}" dt="2026-08-19T15:11:36.120" v="515" actId="20577"/>
          <ac:spMkLst>
            <pc:docMk/>
            <pc:sldMk cId="1587848564" sldId="268"/>
            <ac:spMk id="8" creationId="{A01CB496-BB1E-3C5C-96C5-953E45A03818}"/>
          </ac:spMkLst>
        </pc:spChg>
      </pc:sldChg>
      <pc:sldChg chg="modSp mod">
        <pc:chgData name="Ogunjimi, Kikelomo" userId="8a598660-b1e8-400c-931e-09193f227cba" providerId="ADAL" clId="{76E71C78-059F-40B6-A1BF-84A0454EBFFA}" dt="2026-08-19T15:10:57.931" v="514" actId="20577"/>
        <pc:sldMkLst>
          <pc:docMk/>
          <pc:sldMk cId="4229214239" sldId="270"/>
        </pc:sldMkLst>
        <pc:spChg chg="mod">
          <ac:chgData name="Ogunjimi, Kikelomo" userId="8a598660-b1e8-400c-931e-09193f227cba" providerId="ADAL" clId="{76E71C78-059F-40B6-A1BF-84A0454EBFFA}" dt="2026-08-19T15:10:57.931" v="514" actId="20577"/>
          <ac:spMkLst>
            <pc:docMk/>
            <pc:sldMk cId="4229214239" sldId="270"/>
            <ac:spMk id="8" creationId="{687A0C1E-0FB1-9E06-4EBE-B51F0D664D9D}"/>
          </ac:spMkLst>
        </pc:spChg>
        <pc:spChg chg="mod">
          <ac:chgData name="Ogunjimi, Kikelomo" userId="8a598660-b1e8-400c-931e-09193f227cba" providerId="ADAL" clId="{76E71C78-059F-40B6-A1BF-84A0454EBFFA}" dt="2026-08-19T15:10:42.213" v="510" actId="14100"/>
          <ac:spMkLst>
            <pc:docMk/>
            <pc:sldMk cId="4229214239" sldId="270"/>
            <ac:spMk id="12" creationId="{67ABE52F-9177-F071-A068-BCA3B78DB605}"/>
          </ac:spMkLst>
        </pc:spChg>
      </pc:sldChg>
      <pc:sldChg chg="del">
        <pc:chgData name="Ogunjimi, Kikelomo" userId="8a598660-b1e8-400c-931e-09193f227cba" providerId="ADAL" clId="{76E71C78-059F-40B6-A1BF-84A0454EBFFA}" dt="2026-08-19T14:27:33.955" v="219" actId="47"/>
        <pc:sldMkLst>
          <pc:docMk/>
          <pc:sldMk cId="814817888" sldId="282"/>
        </pc:sldMkLst>
      </pc:sldChg>
      <pc:sldChg chg="modSp mod">
        <pc:chgData name="Ogunjimi, Kikelomo" userId="8a598660-b1e8-400c-931e-09193f227cba" providerId="ADAL" clId="{76E71C78-059F-40B6-A1BF-84A0454EBFFA}" dt="2026-08-19T14:54:44.419" v="446" actId="20577"/>
        <pc:sldMkLst>
          <pc:docMk/>
          <pc:sldMk cId="2093910679" sldId="283"/>
        </pc:sldMkLst>
        <pc:spChg chg="mod">
          <ac:chgData name="Ogunjimi, Kikelomo" userId="8a598660-b1e8-400c-931e-09193f227cba" providerId="ADAL" clId="{76E71C78-059F-40B6-A1BF-84A0454EBFFA}" dt="2026-08-19T14:54:44.419" v="446" actId="20577"/>
          <ac:spMkLst>
            <pc:docMk/>
            <pc:sldMk cId="2093910679" sldId="283"/>
            <ac:spMk id="28" creationId="{2343B075-FE17-E5B3-DA00-25468EDB2C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9E37C-DD1A-4073-B30C-386131B90569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676B2-F24C-455B-A0FE-DDE7C0C01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96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676B2-F24C-455B-A0FE-DDE7C0C01D9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955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EE83-9BB9-481D-8395-69C4DB5CDE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0374" y="2549668"/>
            <a:ext cx="9144000" cy="563231"/>
          </a:xfrm>
        </p:spPr>
        <p:txBody>
          <a:bodyPr anchor="t" anchorCtr="0">
            <a:spAutoFit/>
          </a:bodyPr>
          <a:lstStyle>
            <a:lvl1pPr algn="l">
              <a:defRPr sz="3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Heading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283A4-33DB-4552-9007-D12033D1E1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0374" y="4156220"/>
            <a:ext cx="9144000" cy="369332"/>
          </a:xfrm>
        </p:spPr>
        <p:txBody>
          <a:bodyPr>
            <a:spAutoFit/>
          </a:bodyPr>
          <a:lstStyle>
            <a:lvl1pPr marL="0" indent="0" algn="l"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Presented by/Sub-heading style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FDDB99-4A42-4713-B148-1FC5187A09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275" y="5671367"/>
            <a:ext cx="4057650" cy="286232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Published DD Month YYYY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14DD80-602E-B41D-4938-5CC632154C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39" y="87448"/>
            <a:ext cx="2146300" cy="1930400"/>
          </a:xfrm>
          <a:prstGeom prst="rect">
            <a:avLst/>
          </a:prstGeom>
        </p:spPr>
      </p:pic>
      <p:sp>
        <p:nvSpPr>
          <p:cNvPr id="10" name="Rectangle: Diagonal Corners Rounded 4">
            <a:extLst>
              <a:ext uri="{FF2B5EF4-FFF2-40B4-BE49-F238E27FC236}">
                <a16:creationId xmlns:a16="http://schemas.microsoft.com/office/drawing/2014/main" id="{074FF3E3-6316-262A-64EB-6ADC731C0A14}"/>
              </a:ext>
            </a:extLst>
          </p:cNvPr>
          <p:cNvSpPr/>
          <p:nvPr userDrawn="1"/>
        </p:nvSpPr>
        <p:spPr>
          <a:xfrm flipV="1">
            <a:off x="558800" y="2091686"/>
            <a:ext cx="11005453" cy="4240923"/>
          </a:xfrm>
          <a:custGeom>
            <a:avLst>
              <a:gd name="f9" fmla="val 16667"/>
              <a:gd name="f10" fmla="val 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ss"/>
              <a:gd name="f8" fmla="val 0"/>
              <a:gd name="f9" fmla="val 16667"/>
              <a:gd name="f10" fmla="val 0"/>
              <a:gd name="f11" fmla="abs f5"/>
              <a:gd name="f12" fmla="abs f6"/>
              <a:gd name="f13" fmla="abs f7"/>
              <a:gd name="f14" fmla="val f8"/>
              <a:gd name="f15" fmla="val f9"/>
              <a:gd name="f16" fmla="val f10"/>
              <a:gd name="f17" fmla="?: f11 f5 1"/>
              <a:gd name="f18" fmla="?: f12 f6 1"/>
              <a:gd name="f19" fmla="?: f13 f7 1"/>
              <a:gd name="f20" fmla="*/ f17 1 21600"/>
              <a:gd name="f21" fmla="*/ f18 1 21600"/>
              <a:gd name="f22" fmla="*/ 21600 f17 1"/>
              <a:gd name="f23" fmla="*/ 21600 f18 1"/>
              <a:gd name="f24" fmla="min f21 f20"/>
              <a:gd name="f25" fmla="*/ f22 1 f19"/>
              <a:gd name="f26" fmla="*/ f23 1 f19"/>
              <a:gd name="f27" fmla="val f25"/>
              <a:gd name="f28" fmla="val f26"/>
              <a:gd name="f29" fmla="*/ f14 f24 1"/>
              <a:gd name="f30" fmla="+- f28 0 f14"/>
              <a:gd name="f31" fmla="+- f27 0 f14"/>
              <a:gd name="f32" fmla="*/ f27 f24 1"/>
              <a:gd name="f33" fmla="*/ f28 f24 1"/>
              <a:gd name="f34" fmla="min f31 f30"/>
              <a:gd name="f35" fmla="*/ f34 f15 1"/>
              <a:gd name="f36" fmla="*/ f34 f16 1"/>
              <a:gd name="f37" fmla="*/ f35 1 100000"/>
              <a:gd name="f38" fmla="*/ f36 1 100000"/>
              <a:gd name="f39" fmla="+- f28 0 f37"/>
              <a:gd name="f40" fmla="+- f27 0 f38"/>
              <a:gd name="f41" fmla="*/ f37 29289 1"/>
              <a:gd name="f42" fmla="*/ f38 29289 1"/>
              <a:gd name="f43" fmla="*/ f37 f24 1"/>
              <a:gd name="f44" fmla="*/ f38 f24 1"/>
              <a:gd name="f45" fmla="*/ f41 1 100000"/>
              <a:gd name="f46" fmla="*/ f42 1 100000"/>
              <a:gd name="f47" fmla="*/ f40 f24 1"/>
              <a:gd name="f48" fmla="*/ f39 f24 1"/>
              <a:gd name="f49" fmla="+- f45 0 f46"/>
              <a:gd name="f50" fmla="?: f49 f45 f46"/>
              <a:gd name="f51" fmla="+- f27 0 f50"/>
              <a:gd name="f52" fmla="+- f28 0 f50"/>
              <a:gd name="f53" fmla="*/ f50 f24 1"/>
              <a:gd name="f54" fmla="*/ f51 f24 1"/>
              <a:gd name="f55" fmla="*/ f52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3" t="f53" r="f54" b="f55"/>
            <a:pathLst>
              <a:path>
                <a:moveTo>
                  <a:pt x="f43" y="f29"/>
                </a:moveTo>
                <a:lnTo>
                  <a:pt x="f47" y="f29"/>
                </a:lnTo>
                <a:arcTo wR="f44" hR="f44" stAng="f4" swAng="f3"/>
                <a:lnTo>
                  <a:pt x="f32" y="f48"/>
                </a:lnTo>
                <a:arcTo wR="f43" hR="f43" stAng="f8" swAng="f3"/>
                <a:lnTo>
                  <a:pt x="f44" y="f33"/>
                </a:lnTo>
                <a:arcTo wR="f44" hR="f44" stAng="f3" swAng="f3"/>
                <a:lnTo>
                  <a:pt x="f29" y="f43"/>
                </a:lnTo>
                <a:arcTo wR="f43" hR="f43" stAng="f2" swAng="f3"/>
                <a:close/>
              </a:path>
            </a:pathLst>
          </a:custGeom>
          <a:noFill/>
          <a:ln w="38103" cap="flat">
            <a:solidFill>
              <a:srgbClr val="00A18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0" cap="none" spc="0" baseline="0" dirty="0">
              <a:solidFill>
                <a:srgbClr val="FFFFFF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968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95C068-E410-F53F-A5DA-4BA70E1795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C0FCC9-C3AF-4E08-A905-07A58A8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6163" cy="844839"/>
          </a:xfrm>
        </p:spPr>
        <p:txBody>
          <a:bodyPr anchor="t" anchorCtr="0">
            <a:normAutofit/>
          </a:bodyPr>
          <a:lstStyle>
            <a:lvl1pPr>
              <a:defRPr lang="en-GB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DBA4-4D5B-4377-BB63-5EFB26E87B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999" y="1440000"/>
            <a:ext cx="11446163" cy="43513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n-US" sz="2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0800" indent="-228600">
              <a:def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E29FC-0AE3-49EE-B903-BD5846EC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F60EB-FBD0-41A4-B8B2-4945FC5C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3D37F2-D8E8-45B7-8A0A-597FBB5E73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4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FCC9-C3AF-4E08-A905-07A58A8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6163" cy="844839"/>
          </a:xfrm>
        </p:spPr>
        <p:txBody>
          <a:bodyPr anchor="t" anchorCtr="0">
            <a:normAutofit/>
          </a:bodyPr>
          <a:lstStyle>
            <a:lvl1pPr>
              <a:defRPr lang="en-GB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DBA4-4D5B-4377-BB63-5EFB26E87B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999" y="1440000"/>
            <a:ext cx="11446163" cy="43513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n-US" sz="2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0800" indent="-228600">
              <a:def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E29FC-0AE3-49EE-B903-BD5846EC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F60EB-FBD0-41A4-B8B2-4945FC5C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82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56A6B2-45CE-47D3-ADDB-BD31EA1119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353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D93AC6-2F50-4B91-B6DD-840E6B04BB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587192"/>
            <a:ext cx="10515600" cy="590931"/>
          </a:xfrm>
        </p:spPr>
        <p:txBody>
          <a:bodyPr anchor="t" anchorCtr="0">
            <a:spAutoFit/>
          </a:bodyPr>
          <a:lstStyle>
            <a:lvl1pPr>
              <a:defRPr sz="3600" b="1"/>
            </a:lvl1pPr>
          </a:lstStyle>
          <a:p>
            <a:r>
              <a:rPr lang="en-US" dirty="0"/>
              <a:t>Section heading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3EC35-1DF4-42E8-843A-F1C2835A221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789940"/>
            <a:ext cx="10515600" cy="369332"/>
          </a:xfrm>
        </p:spPr>
        <p:txBody>
          <a:bodyPr>
            <a:sp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196778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3">
            <a:extLst>
              <a:ext uri="{FF2B5EF4-FFF2-40B4-BE49-F238E27FC236}">
                <a16:creationId xmlns:a16="http://schemas.microsoft.com/office/drawing/2014/main" id="{4FAAD646-2462-41CA-AE4B-76753CEDFF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121507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3EC35-1DF4-42E8-843A-F1C2835A221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08626" y="901414"/>
            <a:ext cx="10405919" cy="563231"/>
          </a:xfrm>
        </p:spPr>
        <p:txBody>
          <a:bodyPr>
            <a:spAutoFit/>
          </a:bodyPr>
          <a:lstStyle>
            <a:lvl1pPr marL="0" indent="0">
              <a:buNone/>
              <a:defRPr sz="3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Large text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9CF87-BF69-4238-8BAD-CEB980FB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01D87-EBA9-4116-8E30-46E25652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C8A0FD4-F699-4BB5-A3C8-3A511F41233C}"/>
              </a:ext>
            </a:extLst>
          </p:cNvPr>
          <p:cNvSpPr/>
          <p:nvPr userDrawn="1"/>
        </p:nvSpPr>
        <p:spPr>
          <a:xfrm flipH="1">
            <a:off x="543561" y="553338"/>
            <a:ext cx="11095443" cy="5390262"/>
          </a:xfrm>
          <a:prstGeom prst="round2DiagRect">
            <a:avLst/>
          </a:prstGeom>
          <a:noFill/>
          <a:ln w="2286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7C596-01AF-CCDA-97FC-B9F74D488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3CFC8DC-6C9A-D540-3932-2F68F793E0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9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684AB9-97FC-8C6A-5B5B-837A2050DB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82F404-A628-4163-A67A-017625A1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CC20F-2520-4988-AFE4-EBE97F23EF9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0000" y="1440000"/>
            <a:ext cx="5580000" cy="47114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A3220-04BF-4C22-9F1D-EA71CB2E4D1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4072" y="1440000"/>
            <a:ext cx="5580000" cy="47114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C2192-61D5-4EB8-AAF7-C62287CE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3B638-8AEF-4744-AF26-A06733AE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BDF036-636D-C6D4-8FA6-64E833EF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5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44191D8-5C04-3BB1-B924-7819B8516E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56CF47-9317-4BCB-B768-6FAFA244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4072" cy="9044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E0031-2A64-4B9F-9549-581805ECA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514" y="1440000"/>
            <a:ext cx="5580000" cy="82391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C07EE-CCB7-404E-8CA0-28E7EADD435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514" y="1980000"/>
            <a:ext cx="5580000" cy="39682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D9511-94F7-4D8A-B308-9F45F8C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072" y="1440000"/>
            <a:ext cx="5580000" cy="82391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B37DB-BE92-439C-B307-B67909DBB68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4072" y="1980000"/>
            <a:ext cx="5580000" cy="39682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2FB8E-C592-4C15-8B2B-5B8ADAC8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C3D43E-BF05-4A08-83EC-42885B45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EFC713-95E5-EB39-16D6-5A7B7B330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1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190F50-5326-AC97-64A0-159E93E605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2557C2-113E-4A34-8911-A50E353E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BCE85-97F0-4F9A-BD88-99ECA8B5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4E44F-BFBB-4DDD-863B-D41AF6EB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25B706-3104-8FC4-278D-6E18D38774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59E8C8-A940-FBD4-B8AE-A2F5EEF79A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3A5B5-FA1A-41C9-AE10-1940D02D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A1E2-41C9-4717-9C40-A6543712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10A84-C819-9646-A151-8F33873949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2EEF02-9D5D-D013-066A-C08B6BBA3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00B1E-7CC5-4A29-9FDA-CA9B202B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D207-F256-473F-8ACD-7992ADD8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864E7-4D70-4211-A41C-CD2456D5D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C231D-00C0-4BA4-8EC1-A2C808CE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8E4A4-9320-483B-B798-ADCC1CC2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80024C-5157-1CFF-9DA9-BA39D2104B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9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E451EA-6C74-0EF4-9FF8-FE8A7182B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846B65-0149-4100-B804-D2C789D9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6C89B-BCF7-4515-83E9-A3C71E965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3B3E4-DD4B-4F60-B675-7EE726FC7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A4386-6EBC-49F7-B127-B0EBBFF2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2BCA2-9676-4B81-BB26-14FE0592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248CCC-D597-0A2B-9E10-9E0F63CC0B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73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0576D64-FD43-A613-6A29-E53D85AC9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CF6847-70BD-4D90-B4D7-F865C7C9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9E28C-4E16-4B39-B317-EACADEF60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58A1F-8F81-4146-95DA-CEF409E4C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B3909-B62E-4B51-9259-87A8A02A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8258B-2BA3-DDAA-B258-7CF1700EEA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41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0F249D-6C21-44F1-B5E2-F28256E57B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2666" r="7030" b="32667"/>
          <a:stretch/>
        </p:blipFill>
        <p:spPr>
          <a:xfrm>
            <a:off x="514861" y="6454022"/>
            <a:ext cx="2997428" cy="267453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0E009-FA67-4DB0-9941-4B016B540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841E8-6B80-423A-957E-5BF423384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BF63B-FEF9-4C03-9300-380CF7AC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3D3F4-F8DF-4316-93E5-D3A857F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04D49A-D8CF-6209-2A51-76459D9FC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19024"/>
            <a:ext cx="12192001" cy="53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02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1DCB-8595-466D-91F9-A3A35B4C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72557-3AB6-4C0C-B165-4709B366F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28C0B-08E4-4375-BF6C-4AD2EA2122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8014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page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4">
            <a:extLst>
              <a:ext uri="{FF2B5EF4-FFF2-40B4-BE49-F238E27FC236}">
                <a16:creationId xmlns:a16="http://schemas.microsoft.com/office/drawing/2014/main" id="{6B6993FF-005E-4D25-A3C3-E79278D0D407}"/>
              </a:ext>
            </a:extLst>
          </p:cNvPr>
          <p:cNvSpPr/>
          <p:nvPr/>
        </p:nvSpPr>
        <p:spPr>
          <a:xfrm flipV="1">
            <a:off x="522515" y="2004602"/>
            <a:ext cx="11005453" cy="4240923"/>
          </a:xfrm>
          <a:custGeom>
            <a:avLst>
              <a:gd name="f9" fmla="val 16667"/>
              <a:gd name="f10" fmla="val 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ss"/>
              <a:gd name="f8" fmla="val 0"/>
              <a:gd name="f9" fmla="val 16667"/>
              <a:gd name="f10" fmla="val 0"/>
              <a:gd name="f11" fmla="abs f5"/>
              <a:gd name="f12" fmla="abs f6"/>
              <a:gd name="f13" fmla="abs f7"/>
              <a:gd name="f14" fmla="val f8"/>
              <a:gd name="f15" fmla="val f9"/>
              <a:gd name="f16" fmla="val f10"/>
              <a:gd name="f17" fmla="?: f11 f5 1"/>
              <a:gd name="f18" fmla="?: f12 f6 1"/>
              <a:gd name="f19" fmla="?: f13 f7 1"/>
              <a:gd name="f20" fmla="*/ f17 1 21600"/>
              <a:gd name="f21" fmla="*/ f18 1 21600"/>
              <a:gd name="f22" fmla="*/ 21600 f17 1"/>
              <a:gd name="f23" fmla="*/ 21600 f18 1"/>
              <a:gd name="f24" fmla="min f21 f20"/>
              <a:gd name="f25" fmla="*/ f22 1 f19"/>
              <a:gd name="f26" fmla="*/ f23 1 f19"/>
              <a:gd name="f27" fmla="val f25"/>
              <a:gd name="f28" fmla="val f26"/>
              <a:gd name="f29" fmla="*/ f14 f24 1"/>
              <a:gd name="f30" fmla="+- f28 0 f14"/>
              <a:gd name="f31" fmla="+- f27 0 f14"/>
              <a:gd name="f32" fmla="*/ f27 f24 1"/>
              <a:gd name="f33" fmla="*/ f28 f24 1"/>
              <a:gd name="f34" fmla="min f31 f30"/>
              <a:gd name="f35" fmla="*/ f34 f15 1"/>
              <a:gd name="f36" fmla="*/ f34 f16 1"/>
              <a:gd name="f37" fmla="*/ f35 1 100000"/>
              <a:gd name="f38" fmla="*/ f36 1 100000"/>
              <a:gd name="f39" fmla="+- f28 0 f37"/>
              <a:gd name="f40" fmla="+- f27 0 f38"/>
              <a:gd name="f41" fmla="*/ f37 29289 1"/>
              <a:gd name="f42" fmla="*/ f38 29289 1"/>
              <a:gd name="f43" fmla="*/ f37 f24 1"/>
              <a:gd name="f44" fmla="*/ f38 f24 1"/>
              <a:gd name="f45" fmla="*/ f41 1 100000"/>
              <a:gd name="f46" fmla="*/ f42 1 100000"/>
              <a:gd name="f47" fmla="*/ f40 f24 1"/>
              <a:gd name="f48" fmla="*/ f39 f24 1"/>
              <a:gd name="f49" fmla="+- f45 0 f46"/>
              <a:gd name="f50" fmla="?: f49 f45 f46"/>
              <a:gd name="f51" fmla="+- f27 0 f50"/>
              <a:gd name="f52" fmla="+- f28 0 f50"/>
              <a:gd name="f53" fmla="*/ f50 f24 1"/>
              <a:gd name="f54" fmla="*/ f51 f24 1"/>
              <a:gd name="f55" fmla="*/ f52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3" t="f53" r="f54" b="f55"/>
            <a:pathLst>
              <a:path>
                <a:moveTo>
                  <a:pt x="f43" y="f29"/>
                </a:moveTo>
                <a:lnTo>
                  <a:pt x="f47" y="f29"/>
                </a:lnTo>
                <a:arcTo wR="f44" hR="f44" stAng="f4" swAng="f3"/>
                <a:lnTo>
                  <a:pt x="f32" y="f48"/>
                </a:lnTo>
                <a:arcTo wR="f43" hR="f43" stAng="f8" swAng="f3"/>
                <a:lnTo>
                  <a:pt x="f44" y="f33"/>
                </a:lnTo>
                <a:arcTo wR="f44" hR="f44" stAng="f3" swAng="f3"/>
                <a:lnTo>
                  <a:pt x="f29" y="f43"/>
                </a:lnTo>
                <a:arcTo wR="f43" hR="f43" stAng="f2" swAng="f3"/>
                <a:close/>
              </a:path>
            </a:pathLst>
          </a:custGeom>
          <a:noFill/>
          <a:ln w="38103" cap="flat">
            <a:solidFill>
              <a:srgbClr val="00A18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0" cap="none" spc="0" baseline="0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02463EA7-3DCD-46CC-BCD6-3E8540997F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340096" y="6425108"/>
            <a:ext cx="5484918" cy="365129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endParaRPr lang="en-GB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459DB0EF-E50A-4A80-8617-483FDB81995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44379" y="6425108"/>
            <a:ext cx="759692" cy="3651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fld id="{C2B15A99-32D5-48D2-9AB1-A17973B7257B}" type="slidenum">
              <a:t>‹#›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1FA7B-0741-3A97-B3B4-61589AE2AF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39" y="-5147"/>
            <a:ext cx="21463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6159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HSC heading &amp; text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42220B4-8533-4BB1-80BA-E1339D715F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340096" y="6356351"/>
            <a:ext cx="5484918" cy="365129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endParaRPr lang="en-GB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C1CB30E-51B9-4F8C-BC47-94116E7611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44379" y="6356351"/>
            <a:ext cx="759692" cy="3651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fld id="{C8077943-3D51-438C-8FB7-BEE503748A1B}" type="slidenum">
              <a:t>‹#›</a:t>
            </a:fld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2432A31-4881-4C3E-94BA-A83C78268331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57905" y="1204840"/>
            <a:ext cx="11446166" cy="4652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3035BC4-0122-426B-903F-EB53B073436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57192" y="236857"/>
            <a:ext cx="11447465" cy="9048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36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AA3BC2-FD88-A909-27ED-9A06F97F653A}"/>
              </a:ext>
            </a:extLst>
          </p:cNvPr>
          <p:cNvGrpSpPr/>
          <p:nvPr userDrawn="1"/>
        </p:nvGrpSpPr>
        <p:grpSpPr>
          <a:xfrm>
            <a:off x="0" y="6186162"/>
            <a:ext cx="12191996" cy="671837"/>
            <a:chOff x="0" y="6186162"/>
            <a:chExt cx="12191996" cy="671837"/>
          </a:xfrm>
        </p:grpSpPr>
        <p:pic>
          <p:nvPicPr>
            <p:cNvPr id="12" name="Picture 8">
              <a:extLst>
                <a:ext uri="{FF2B5EF4-FFF2-40B4-BE49-F238E27FC236}">
                  <a16:creationId xmlns:a16="http://schemas.microsoft.com/office/drawing/2014/main" id="{A164DB80-54BE-5EFB-07D2-9E941EBAA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57" b="50000"/>
            <a:stretch>
              <a:fillRect/>
            </a:stretch>
          </p:blipFill>
          <p:spPr>
            <a:xfrm>
              <a:off x="0" y="6186162"/>
              <a:ext cx="12191996" cy="671837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C217A03-A633-F13D-100D-65598AE727A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44" t="32666" r="7030" b="32667"/>
            <a:stretch/>
          </p:blipFill>
          <p:spPr>
            <a:xfrm>
              <a:off x="530320" y="6338824"/>
              <a:ext cx="4107601" cy="366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170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break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4">
            <a:extLst>
              <a:ext uri="{FF2B5EF4-FFF2-40B4-BE49-F238E27FC236}">
                <a16:creationId xmlns:a16="http://schemas.microsoft.com/office/drawing/2014/main" id="{D1DBAAA7-F4B9-4A4A-81BF-531A8E1BCFED}"/>
              </a:ext>
            </a:extLst>
          </p:cNvPr>
          <p:cNvSpPr/>
          <p:nvPr/>
        </p:nvSpPr>
        <p:spPr>
          <a:xfrm flipV="1">
            <a:off x="593271" y="538837"/>
            <a:ext cx="11005453" cy="5780315"/>
          </a:xfrm>
          <a:custGeom>
            <a:avLst>
              <a:gd name="f9" fmla="val 16667"/>
              <a:gd name="f10" fmla="val 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ss"/>
              <a:gd name="f8" fmla="val 0"/>
              <a:gd name="f9" fmla="val 16667"/>
              <a:gd name="f10" fmla="val 0"/>
              <a:gd name="f11" fmla="abs f5"/>
              <a:gd name="f12" fmla="abs f6"/>
              <a:gd name="f13" fmla="abs f7"/>
              <a:gd name="f14" fmla="val f8"/>
              <a:gd name="f15" fmla="val f9"/>
              <a:gd name="f16" fmla="val f10"/>
              <a:gd name="f17" fmla="?: f11 f5 1"/>
              <a:gd name="f18" fmla="?: f12 f6 1"/>
              <a:gd name="f19" fmla="?: f13 f7 1"/>
              <a:gd name="f20" fmla="*/ f17 1 21600"/>
              <a:gd name="f21" fmla="*/ f18 1 21600"/>
              <a:gd name="f22" fmla="*/ 21600 f17 1"/>
              <a:gd name="f23" fmla="*/ 21600 f18 1"/>
              <a:gd name="f24" fmla="min f21 f20"/>
              <a:gd name="f25" fmla="*/ f22 1 f19"/>
              <a:gd name="f26" fmla="*/ f23 1 f19"/>
              <a:gd name="f27" fmla="val f25"/>
              <a:gd name="f28" fmla="val f26"/>
              <a:gd name="f29" fmla="*/ f14 f24 1"/>
              <a:gd name="f30" fmla="+- f28 0 f14"/>
              <a:gd name="f31" fmla="+- f27 0 f14"/>
              <a:gd name="f32" fmla="*/ f27 f24 1"/>
              <a:gd name="f33" fmla="*/ f28 f24 1"/>
              <a:gd name="f34" fmla="min f31 f30"/>
              <a:gd name="f35" fmla="*/ f34 f15 1"/>
              <a:gd name="f36" fmla="*/ f34 f16 1"/>
              <a:gd name="f37" fmla="*/ f35 1 100000"/>
              <a:gd name="f38" fmla="*/ f36 1 100000"/>
              <a:gd name="f39" fmla="+- f28 0 f37"/>
              <a:gd name="f40" fmla="+- f27 0 f38"/>
              <a:gd name="f41" fmla="*/ f37 29289 1"/>
              <a:gd name="f42" fmla="*/ f38 29289 1"/>
              <a:gd name="f43" fmla="*/ f37 f24 1"/>
              <a:gd name="f44" fmla="*/ f38 f24 1"/>
              <a:gd name="f45" fmla="*/ f41 1 100000"/>
              <a:gd name="f46" fmla="*/ f42 1 100000"/>
              <a:gd name="f47" fmla="*/ f40 f24 1"/>
              <a:gd name="f48" fmla="*/ f39 f24 1"/>
              <a:gd name="f49" fmla="+- f45 0 f46"/>
              <a:gd name="f50" fmla="?: f49 f45 f46"/>
              <a:gd name="f51" fmla="+- f27 0 f50"/>
              <a:gd name="f52" fmla="+- f28 0 f50"/>
              <a:gd name="f53" fmla="*/ f50 f24 1"/>
              <a:gd name="f54" fmla="*/ f51 f24 1"/>
              <a:gd name="f55" fmla="*/ f52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3" t="f53" r="f54" b="f55"/>
            <a:pathLst>
              <a:path>
                <a:moveTo>
                  <a:pt x="f43" y="f29"/>
                </a:moveTo>
                <a:lnTo>
                  <a:pt x="f47" y="f29"/>
                </a:lnTo>
                <a:arcTo wR="f44" hR="f44" stAng="f4" swAng="f3"/>
                <a:lnTo>
                  <a:pt x="f32" y="f48"/>
                </a:lnTo>
                <a:arcTo wR="f43" hR="f43" stAng="f8" swAng="f3"/>
                <a:lnTo>
                  <a:pt x="f44" y="f33"/>
                </a:lnTo>
                <a:arcTo wR="f44" hR="f44" stAng="f3" swAng="f3"/>
                <a:lnTo>
                  <a:pt x="f29" y="f43"/>
                </a:lnTo>
                <a:arcTo wR="f43" hR="f43" stAng="f2" swAng="f3"/>
                <a:close/>
              </a:path>
            </a:pathLst>
          </a:custGeom>
          <a:noFill/>
          <a:ln w="38103" cap="flat">
            <a:solidFill>
              <a:srgbClr val="00A18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B72D255-2FF2-4FD6-BF47-836081E5416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038474" y="2869816"/>
            <a:ext cx="8743950" cy="559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3600" b="1" i="0" u="none" strike="noStrike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9B5E735-5678-427C-8AFF-16F3D81FCDD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038474" y="3717520"/>
            <a:ext cx="8743950" cy="559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b="1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2742F34-E012-46D2-9333-8FE327E6C20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340096" y="6425108"/>
            <a:ext cx="5484918" cy="365129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endParaRPr lang="en-GB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0B94536-D4A8-40D0-B90D-AAC0226F642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44379" y="6425108"/>
            <a:ext cx="759692" cy="3651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fld id="{C2B15A99-32D5-48D2-9AB1-A17973B7257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798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HSC large text 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6">
            <a:extLst>
              <a:ext uri="{FF2B5EF4-FFF2-40B4-BE49-F238E27FC236}">
                <a16:creationId xmlns:a16="http://schemas.microsoft.com/office/drawing/2014/main" id="{A1D7C8C6-18BC-486A-87AC-BCB0A6D899B6}"/>
              </a:ext>
            </a:extLst>
          </p:cNvPr>
          <p:cNvSpPr/>
          <p:nvPr/>
        </p:nvSpPr>
        <p:spPr>
          <a:xfrm flipV="1">
            <a:off x="404905" y="432602"/>
            <a:ext cx="11416146" cy="5421084"/>
          </a:xfrm>
          <a:custGeom>
            <a:avLst>
              <a:gd name="f9" fmla="val 16667"/>
              <a:gd name="f10" fmla="val 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ss"/>
              <a:gd name="f8" fmla="val 0"/>
              <a:gd name="f9" fmla="val 16667"/>
              <a:gd name="f10" fmla="val 0"/>
              <a:gd name="f11" fmla="abs f5"/>
              <a:gd name="f12" fmla="abs f6"/>
              <a:gd name="f13" fmla="abs f7"/>
              <a:gd name="f14" fmla="val f8"/>
              <a:gd name="f15" fmla="val f9"/>
              <a:gd name="f16" fmla="val f10"/>
              <a:gd name="f17" fmla="?: f11 f5 1"/>
              <a:gd name="f18" fmla="?: f12 f6 1"/>
              <a:gd name="f19" fmla="?: f13 f7 1"/>
              <a:gd name="f20" fmla="*/ f17 1 21600"/>
              <a:gd name="f21" fmla="*/ f18 1 21600"/>
              <a:gd name="f22" fmla="*/ 21600 f17 1"/>
              <a:gd name="f23" fmla="*/ 21600 f18 1"/>
              <a:gd name="f24" fmla="min f21 f20"/>
              <a:gd name="f25" fmla="*/ f22 1 f19"/>
              <a:gd name="f26" fmla="*/ f23 1 f19"/>
              <a:gd name="f27" fmla="val f25"/>
              <a:gd name="f28" fmla="val f26"/>
              <a:gd name="f29" fmla="*/ f14 f24 1"/>
              <a:gd name="f30" fmla="+- f28 0 f14"/>
              <a:gd name="f31" fmla="+- f27 0 f14"/>
              <a:gd name="f32" fmla="*/ f27 f24 1"/>
              <a:gd name="f33" fmla="*/ f28 f24 1"/>
              <a:gd name="f34" fmla="min f31 f30"/>
              <a:gd name="f35" fmla="*/ f34 f15 1"/>
              <a:gd name="f36" fmla="*/ f34 f16 1"/>
              <a:gd name="f37" fmla="*/ f35 1 100000"/>
              <a:gd name="f38" fmla="*/ f36 1 100000"/>
              <a:gd name="f39" fmla="+- f28 0 f37"/>
              <a:gd name="f40" fmla="+- f27 0 f38"/>
              <a:gd name="f41" fmla="*/ f37 29289 1"/>
              <a:gd name="f42" fmla="*/ f38 29289 1"/>
              <a:gd name="f43" fmla="*/ f37 f24 1"/>
              <a:gd name="f44" fmla="*/ f38 f24 1"/>
              <a:gd name="f45" fmla="*/ f41 1 100000"/>
              <a:gd name="f46" fmla="*/ f42 1 100000"/>
              <a:gd name="f47" fmla="*/ f40 f24 1"/>
              <a:gd name="f48" fmla="*/ f39 f24 1"/>
              <a:gd name="f49" fmla="+- f45 0 f46"/>
              <a:gd name="f50" fmla="?: f49 f45 f46"/>
              <a:gd name="f51" fmla="+- f27 0 f50"/>
              <a:gd name="f52" fmla="+- f28 0 f50"/>
              <a:gd name="f53" fmla="*/ f50 f24 1"/>
              <a:gd name="f54" fmla="*/ f51 f24 1"/>
              <a:gd name="f55" fmla="*/ f52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3" t="f53" r="f54" b="f55"/>
            <a:pathLst>
              <a:path>
                <a:moveTo>
                  <a:pt x="f43" y="f29"/>
                </a:moveTo>
                <a:lnTo>
                  <a:pt x="f47" y="f29"/>
                </a:lnTo>
                <a:arcTo wR="f44" hR="f44" stAng="f4" swAng="f3"/>
                <a:lnTo>
                  <a:pt x="f32" y="f48"/>
                </a:lnTo>
                <a:arcTo wR="f43" hR="f43" stAng="f8" swAng="f3"/>
                <a:lnTo>
                  <a:pt x="f44" y="f33"/>
                </a:lnTo>
                <a:arcTo wR="f44" hR="f44" stAng="f3" swAng="f3"/>
                <a:lnTo>
                  <a:pt x="f29" y="f43"/>
                </a:lnTo>
                <a:arcTo wR="f43" hR="f43" stAng="f2" swAng="f3"/>
                <a:close/>
              </a:path>
            </a:pathLst>
          </a:custGeom>
          <a:noFill/>
          <a:ln w="38103" cap="flat">
            <a:solidFill>
              <a:srgbClr val="00A18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8EC960A-7453-4E87-B8A8-C794E60E50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340096" y="6356351"/>
            <a:ext cx="5484918" cy="365129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endParaRPr lang="en-GB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8007425-7485-421F-8556-1610521BC3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44379" y="6356351"/>
            <a:ext cx="759692" cy="3651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fld id="{C2B15A99-32D5-48D2-9AB1-A17973B7257B}" type="slidenum"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952F9A-BEAC-4493-AEC0-C7E834A588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08626" y="901414"/>
            <a:ext cx="10405919" cy="563231"/>
          </a:xfrm>
        </p:spPr>
        <p:txBody>
          <a:bodyPr>
            <a:spAutoFit/>
          </a:bodyPr>
          <a:lstStyle>
            <a:lvl1pPr marL="0" indent="0">
              <a:buNone/>
              <a:defRPr sz="3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Large text page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01C810-83AA-829B-F2E8-FA4E269F3707}"/>
              </a:ext>
            </a:extLst>
          </p:cNvPr>
          <p:cNvGrpSpPr/>
          <p:nvPr userDrawn="1"/>
        </p:nvGrpSpPr>
        <p:grpSpPr>
          <a:xfrm>
            <a:off x="0" y="6186162"/>
            <a:ext cx="12191996" cy="671837"/>
            <a:chOff x="0" y="6186162"/>
            <a:chExt cx="12191996" cy="671837"/>
          </a:xfrm>
        </p:grpSpPr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A032D987-D47B-4682-B42F-2068EC276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57" b="50000"/>
            <a:stretch>
              <a:fillRect/>
            </a:stretch>
          </p:blipFill>
          <p:spPr>
            <a:xfrm>
              <a:off x="0" y="6186162"/>
              <a:ext cx="12191996" cy="671837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572980B-049A-EE22-F53D-CB5EAD5AE3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44" t="32666" r="7030" b="32667"/>
            <a:stretch/>
          </p:blipFill>
          <p:spPr>
            <a:xfrm>
              <a:off x="530320" y="6338824"/>
              <a:ext cx="4107601" cy="366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1490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4">
            <a:extLst>
              <a:ext uri="{FF2B5EF4-FFF2-40B4-BE49-F238E27FC236}">
                <a16:creationId xmlns:a16="http://schemas.microsoft.com/office/drawing/2014/main" id="{E28E3FE4-7C0A-4AA6-AFE1-3A10239D3207}"/>
              </a:ext>
            </a:extLst>
          </p:cNvPr>
          <p:cNvSpPr/>
          <p:nvPr/>
        </p:nvSpPr>
        <p:spPr>
          <a:xfrm flipV="1">
            <a:off x="522515" y="2093379"/>
            <a:ext cx="11005453" cy="4240923"/>
          </a:xfrm>
          <a:custGeom>
            <a:avLst>
              <a:gd name="f9" fmla="val 16667"/>
              <a:gd name="f10" fmla="val 0"/>
            </a:avLst>
            <a:gdLst>
              <a:gd name="f2" fmla="val 10800000"/>
              <a:gd name="f3" fmla="val 5400000"/>
              <a:gd name="f4" fmla="val 16200000"/>
              <a:gd name="f5" fmla="val w"/>
              <a:gd name="f6" fmla="val h"/>
              <a:gd name="f7" fmla="val ss"/>
              <a:gd name="f8" fmla="val 0"/>
              <a:gd name="f9" fmla="val 16667"/>
              <a:gd name="f10" fmla="val 0"/>
              <a:gd name="f11" fmla="abs f5"/>
              <a:gd name="f12" fmla="abs f6"/>
              <a:gd name="f13" fmla="abs f7"/>
              <a:gd name="f14" fmla="val f8"/>
              <a:gd name="f15" fmla="val f9"/>
              <a:gd name="f16" fmla="val f10"/>
              <a:gd name="f17" fmla="?: f11 f5 1"/>
              <a:gd name="f18" fmla="?: f12 f6 1"/>
              <a:gd name="f19" fmla="?: f13 f7 1"/>
              <a:gd name="f20" fmla="*/ f17 1 21600"/>
              <a:gd name="f21" fmla="*/ f18 1 21600"/>
              <a:gd name="f22" fmla="*/ 21600 f17 1"/>
              <a:gd name="f23" fmla="*/ 21600 f18 1"/>
              <a:gd name="f24" fmla="min f21 f20"/>
              <a:gd name="f25" fmla="*/ f22 1 f19"/>
              <a:gd name="f26" fmla="*/ f23 1 f19"/>
              <a:gd name="f27" fmla="val f25"/>
              <a:gd name="f28" fmla="val f26"/>
              <a:gd name="f29" fmla="*/ f14 f24 1"/>
              <a:gd name="f30" fmla="+- f28 0 f14"/>
              <a:gd name="f31" fmla="+- f27 0 f14"/>
              <a:gd name="f32" fmla="*/ f27 f24 1"/>
              <a:gd name="f33" fmla="*/ f28 f24 1"/>
              <a:gd name="f34" fmla="min f31 f30"/>
              <a:gd name="f35" fmla="*/ f34 f15 1"/>
              <a:gd name="f36" fmla="*/ f34 f16 1"/>
              <a:gd name="f37" fmla="*/ f35 1 100000"/>
              <a:gd name="f38" fmla="*/ f36 1 100000"/>
              <a:gd name="f39" fmla="+- f28 0 f37"/>
              <a:gd name="f40" fmla="+- f27 0 f38"/>
              <a:gd name="f41" fmla="*/ f37 29289 1"/>
              <a:gd name="f42" fmla="*/ f38 29289 1"/>
              <a:gd name="f43" fmla="*/ f37 f24 1"/>
              <a:gd name="f44" fmla="*/ f38 f24 1"/>
              <a:gd name="f45" fmla="*/ f41 1 100000"/>
              <a:gd name="f46" fmla="*/ f42 1 100000"/>
              <a:gd name="f47" fmla="*/ f40 f24 1"/>
              <a:gd name="f48" fmla="*/ f39 f24 1"/>
              <a:gd name="f49" fmla="+- f45 0 f46"/>
              <a:gd name="f50" fmla="?: f49 f45 f46"/>
              <a:gd name="f51" fmla="+- f27 0 f50"/>
              <a:gd name="f52" fmla="+- f28 0 f50"/>
              <a:gd name="f53" fmla="*/ f50 f24 1"/>
              <a:gd name="f54" fmla="*/ f51 f24 1"/>
              <a:gd name="f55" fmla="*/ f52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3" t="f53" r="f54" b="f55"/>
            <a:pathLst>
              <a:path>
                <a:moveTo>
                  <a:pt x="f43" y="f29"/>
                </a:moveTo>
                <a:lnTo>
                  <a:pt x="f47" y="f29"/>
                </a:lnTo>
                <a:arcTo wR="f44" hR="f44" stAng="f4" swAng="f3"/>
                <a:lnTo>
                  <a:pt x="f32" y="f48"/>
                </a:lnTo>
                <a:arcTo wR="f43" hR="f43" stAng="f8" swAng="f3"/>
                <a:lnTo>
                  <a:pt x="f44" y="f33"/>
                </a:lnTo>
                <a:arcTo wR="f44" hR="f44" stAng="f3" swAng="f3"/>
                <a:lnTo>
                  <a:pt x="f29" y="f43"/>
                </a:lnTo>
                <a:arcTo wR="f43" hR="f43" stAng="f2" swAng="f3"/>
                <a:close/>
              </a:path>
            </a:pathLst>
          </a:custGeom>
          <a:noFill/>
          <a:ln w="38103" cap="flat">
            <a:solidFill>
              <a:srgbClr val="00A188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AD86CED-9A73-450C-A71B-47B526E2A86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044573" y="2503490"/>
            <a:ext cx="9231316" cy="9255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3200" b="1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4B16E31-4CE8-4D5F-8E29-D7D65EF70AA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044573" y="3662309"/>
            <a:ext cx="9231316" cy="9255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2400" b="1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56F0A68-F520-4BB3-B9B5-8E2472B7299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044573" y="4821128"/>
            <a:ext cx="9231316" cy="9255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18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E6E337-E03E-45FD-8D8C-328F4299B3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91513" y="598951"/>
            <a:ext cx="1314306" cy="1227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BBC54F-50A7-82C0-E1B1-F4A25060AD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39" y="-5147"/>
            <a:ext cx="21463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86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0B943-7FEE-4EBA-894D-1AFF2D30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4072" cy="5355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BCFDC-5D94-4F0B-82D3-04481417E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999" y="1440000"/>
            <a:ext cx="114440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55446-D695-44BC-B721-FA7A3D3B3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5000" y="6356350"/>
            <a:ext cx="6380018" cy="365125"/>
          </a:xfrm>
          <a:prstGeom prst="rect">
            <a:avLst/>
          </a:prstGeom>
        </p:spPr>
        <p:txBody>
          <a:bodyPr vert="horz" lIns="91440" tIns="36000" rIns="91440" bIns="3600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0DA2C-4054-4870-AE04-3BEF0E496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4381" y="6356350"/>
            <a:ext cx="759691" cy="365125"/>
          </a:xfrm>
          <a:prstGeom prst="rect">
            <a:avLst/>
          </a:prstGeom>
        </p:spPr>
        <p:txBody>
          <a:bodyPr vert="horz" lIns="91440" tIns="36000" rIns="91440" bIns="3600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744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200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100" b="1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71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179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70E482-A125-4833-B712-67EC9E72E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374" y="2549668"/>
            <a:ext cx="9144000" cy="1505027"/>
          </a:xfrm>
        </p:spPr>
        <p:txBody>
          <a:bodyPr/>
          <a:lstStyle/>
          <a:p>
            <a:pPr fontAlgn="base"/>
            <a:r>
              <a:rPr lang="en-US" dirty="0"/>
              <a:t>Interactive Data Access Tool</a:t>
            </a:r>
            <a:r>
              <a:rPr lang="en-US" b="0" dirty="0"/>
              <a:t>​ </a:t>
            </a:r>
            <a:r>
              <a:rPr lang="en-US" dirty="0"/>
              <a:t>for ASC Metrics</a:t>
            </a:r>
            <a:r>
              <a:rPr lang="en-US" b="0" dirty="0"/>
              <a:t>​</a:t>
            </a:r>
            <a:br>
              <a:rPr lang="en-US" b="0" dirty="0"/>
            </a:b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E4C3DD-0C15-4059-95FA-4122D45E2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374" y="4156220"/>
            <a:ext cx="9144000" cy="646331"/>
          </a:xfrm>
        </p:spPr>
        <p:txBody>
          <a:bodyPr/>
          <a:lstStyle/>
          <a:p>
            <a:pPr fontAlgn="base"/>
            <a:r>
              <a:rPr lang="en-US" b="0" dirty="0"/>
              <a:t>Proof-of-concept R Shiny prototype for dynamic exploration of Adult Social Care Activity Report data</a:t>
            </a:r>
            <a:r>
              <a:rPr lang="en-GB" b="0" dirty="0"/>
              <a:t>​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69CF3D-3ED7-4E40-8980-547EF27F07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Presented 20/08/2026</a:t>
            </a:r>
          </a:p>
        </p:txBody>
      </p:sp>
    </p:spTree>
    <p:extLst>
      <p:ext uri="{BB962C8B-B14F-4D97-AF65-F5344CB8AC3E}">
        <p14:creationId xmlns:p14="http://schemas.microsoft.com/office/powerpoint/2010/main" val="317683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99DE-87FA-4077-A625-056F62D1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4072" cy="535531"/>
          </a:xfrm>
        </p:spPr>
        <p:txBody>
          <a:bodyPr/>
          <a:lstStyle/>
          <a:p>
            <a:r>
              <a:rPr lang="en-US" dirty="0"/>
              <a:t>The problem: why this project was needed</a:t>
            </a:r>
            <a:r>
              <a:rPr lang="en-GB" b="0" dirty="0"/>
              <a:t>​</a:t>
            </a:r>
            <a:endParaRPr lang="en-GB" dirty="0"/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2EE3D81E-A161-4A85-970D-6064545322C3}"/>
              </a:ext>
            </a:extLst>
          </p:cNvPr>
          <p:cNvSpPr/>
          <p:nvPr/>
        </p:nvSpPr>
        <p:spPr>
          <a:xfrm flipH="1">
            <a:off x="285887" y="1252009"/>
            <a:ext cx="3602058" cy="2382647"/>
          </a:xfrm>
          <a:prstGeom prst="round2DiagRect">
            <a:avLst/>
          </a:prstGeom>
          <a:noFill/>
          <a:ln w="19050">
            <a:solidFill>
              <a:srgbClr val="00A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r>
              <a:rPr lang="en-US" sz="2400" i="0" u="none" strike="noStrike" spc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ASC Activity Report data is rich and multi-dimensional, but static reporting makes tailored exploration slow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72D170EB-C6CA-409F-B6A9-094557011F78}"/>
              </a:ext>
            </a:extLst>
          </p:cNvPr>
          <p:cNvSpPr/>
          <p:nvPr/>
        </p:nvSpPr>
        <p:spPr>
          <a:xfrm flipH="1">
            <a:off x="4074813" y="1252011"/>
            <a:ext cx="4083262" cy="2382646"/>
          </a:xfrm>
          <a:prstGeom prst="round2DiagRect">
            <a:avLst/>
          </a:prstGeom>
          <a:noFill/>
          <a:ln w="19050">
            <a:solidFill>
              <a:srgbClr val="00A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1A0EF70-1F7F-4589-8262-AB3611E39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3281" y="6356350"/>
            <a:ext cx="6380018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764AC158-B985-4C0F-B30D-7E598F70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381" y="6356350"/>
            <a:ext cx="759691" cy="365125"/>
          </a:xfrm>
        </p:spPr>
        <p:txBody>
          <a:bodyPr/>
          <a:lstStyle/>
          <a:p>
            <a:fld id="{06A44ADC-FBC0-4698-B0EC-1AD4A4060383}" type="slidenum">
              <a:rPr lang="en-GB" smtClean="0">
                <a:solidFill>
                  <a:schemeClr val="tx1"/>
                </a:solidFill>
              </a:rPr>
              <a:t>2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FC01B-2ADB-22B3-D2C3-0EED350EF418}"/>
              </a:ext>
            </a:extLst>
          </p:cNvPr>
          <p:cNvSpPr txBox="1"/>
          <p:nvPr/>
        </p:nvSpPr>
        <p:spPr>
          <a:xfrm>
            <a:off x="4199391" y="1490008"/>
            <a:ext cx="39586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Many outputs represent different views of the same underlying data,</a:t>
            </a:r>
          </a:p>
          <a:p>
            <a:r>
              <a:rPr lang="en-GB" sz="2400" dirty="0"/>
              <a:t>creating a search-and-extract burden.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121E975-FBA7-2C3F-DE04-6B2E056F938E}"/>
              </a:ext>
            </a:extLst>
          </p:cNvPr>
          <p:cNvSpPr/>
          <p:nvPr/>
        </p:nvSpPr>
        <p:spPr>
          <a:xfrm flipH="1">
            <a:off x="8282652" y="1275210"/>
            <a:ext cx="3736567" cy="2382646"/>
          </a:xfrm>
          <a:prstGeom prst="round2DiagRect">
            <a:avLst/>
          </a:prstGeom>
          <a:noFill/>
          <a:ln w="19050">
            <a:solidFill>
              <a:srgbClr val="00A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81B701-2375-9FC5-3C81-41C49F8B1F5E}"/>
              </a:ext>
            </a:extLst>
          </p:cNvPr>
          <p:cNvSpPr txBox="1"/>
          <p:nvPr/>
        </p:nvSpPr>
        <p:spPr>
          <a:xfrm>
            <a:off x="8475354" y="1522332"/>
            <a:ext cx="38470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Manual exploration can require coding skills or repeated table filtering outside the publication</a:t>
            </a:r>
            <a:r>
              <a:rPr lang="en-GB" dirty="0"/>
              <a:t>​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D2632B-DADD-7897-37FA-420A7D5843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8991" y="4577305"/>
            <a:ext cx="1146147" cy="11522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94FAA58-5DC8-D3EA-269C-16DA3031AFDE}"/>
              </a:ext>
            </a:extLst>
          </p:cNvPr>
          <p:cNvSpPr txBox="1"/>
          <p:nvPr/>
        </p:nvSpPr>
        <p:spPr>
          <a:xfrm>
            <a:off x="5641381" y="479948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Move from static tables to guided, dynamic exploration without requiring advanced coding skills.</a:t>
            </a:r>
            <a:r>
              <a:rPr lang="en-GB" dirty="0"/>
              <a:t>​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BE8D1FEB-30CF-E194-B47C-C1C8E8C63D6A}"/>
              </a:ext>
            </a:extLst>
          </p:cNvPr>
          <p:cNvSpPr/>
          <p:nvPr/>
        </p:nvSpPr>
        <p:spPr>
          <a:xfrm flipH="1">
            <a:off x="218632" y="3832190"/>
            <a:ext cx="3736567" cy="2382646"/>
          </a:xfrm>
          <a:prstGeom prst="round2DiagRect">
            <a:avLst/>
          </a:prstGeom>
          <a:noFill/>
          <a:ln w="19050">
            <a:solidFill>
              <a:srgbClr val="00A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039D2-189B-2262-493C-0E3C24E0B602}"/>
              </a:ext>
            </a:extLst>
          </p:cNvPr>
          <p:cNvSpPr txBox="1"/>
          <p:nvPr/>
        </p:nvSpPr>
        <p:spPr>
          <a:xfrm>
            <a:off x="360000" y="4054017"/>
            <a:ext cx="33471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A flexible interface can reduce friction and improve access for policy, operational and analytical users.</a:t>
            </a:r>
          </a:p>
        </p:txBody>
      </p:sp>
    </p:spTree>
    <p:extLst>
      <p:ext uri="{BB962C8B-B14F-4D97-AF65-F5344CB8AC3E}">
        <p14:creationId xmlns:p14="http://schemas.microsoft.com/office/powerpoint/2010/main" val="2659815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E50D1-C04F-4FEE-8AE2-3C00A5481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42" y="733678"/>
            <a:ext cx="10515600" cy="590931"/>
          </a:xfrm>
        </p:spPr>
        <p:txBody>
          <a:bodyPr/>
          <a:lstStyle/>
          <a:p>
            <a:r>
              <a:rPr lang="en-US" sz="3200" dirty="0"/>
              <a:t>Developing the solution</a:t>
            </a:r>
            <a:r>
              <a:rPr lang="en-GB" b="0" dirty="0"/>
              <a:t>​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6D414-4CB8-B870-7D8D-8D9E95ABD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87" y="1692875"/>
            <a:ext cx="2982694" cy="3583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B2D6BF-7BCF-0018-1C3E-12EB46034CF5}"/>
              </a:ext>
            </a:extLst>
          </p:cNvPr>
          <p:cNvSpPr txBox="1"/>
          <p:nvPr/>
        </p:nvSpPr>
        <p:spPr>
          <a:xfrm>
            <a:off x="4263736" y="3244334"/>
            <a:ext cx="8527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EE552CFE-CD80-9449-B247-EFA3F3547686}"/>
              </a:ext>
            </a:extLst>
          </p:cNvPr>
          <p:cNvSpPr/>
          <p:nvPr/>
        </p:nvSpPr>
        <p:spPr>
          <a:xfrm>
            <a:off x="4263737" y="1356186"/>
            <a:ext cx="7235536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 does</a:t>
            </a:r>
            <a:endParaRPr lang="en-US" dirty="0"/>
          </a:p>
          <a:p>
            <a:endParaRPr lang="en-US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users apply filters, aggregate ASC Activity metrics and inspect aggregated results and download detailed key insights in one place.</a:t>
            </a:r>
            <a:endParaRPr lang="en-US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61F6C785-D042-713E-53DB-ED9DD7035E86}"/>
              </a:ext>
            </a:extLst>
          </p:cNvPr>
          <p:cNvSpPr/>
          <p:nvPr/>
        </p:nvSpPr>
        <p:spPr>
          <a:xfrm>
            <a:off x="4263737" y="2941494"/>
            <a:ext cx="7235536" cy="1469867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512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methodology</a:t>
            </a:r>
            <a:endParaRPr lang="en-US" b="1" dirty="0">
              <a:solidFill>
                <a:srgbClr val="512698"/>
              </a:solidFill>
              <a:latin typeface="Arial" pitchFamily="34" charset="0"/>
              <a:cs typeface="Arial" pitchFamily="34" charset="-120"/>
            </a:endParaRPr>
          </a:p>
          <a:p>
            <a:endParaRPr lang="en-US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the published Adult Social Care Activity Report 2024 to 2025. Suppressed CSVs were used.</a:t>
            </a:r>
            <a:endParaRPr lang="en-US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0E550D64-177E-AA0D-4A11-1D22F1BCE62E}"/>
              </a:ext>
            </a:extLst>
          </p:cNvPr>
          <p:cNvSpPr/>
          <p:nvPr/>
        </p:nvSpPr>
        <p:spPr>
          <a:xfrm>
            <a:off x="4263737" y="4616979"/>
            <a:ext cx="7235536" cy="1469866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 and user experience</a:t>
            </a:r>
          </a:p>
          <a:p>
            <a:endParaRPr lang="en-US" b="1" dirty="0">
              <a:solidFill>
                <a:srgbClr val="00857A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 plain-English R Shiny interface, responsive data structures and clear visual outputs for non-technical users.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4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44F040-743B-44F9-B5F9-4FF81EA3A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280" y="604852"/>
            <a:ext cx="10405919" cy="535531"/>
          </a:xfrm>
        </p:spPr>
        <p:txBody>
          <a:bodyPr/>
          <a:lstStyle/>
          <a:p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GB" sz="3200" b="1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C3BFF446-0E1E-4A8F-ABDE-82BE1BD0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3281" y="6356350"/>
            <a:ext cx="6380018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A941C99-85D6-489A-98EE-BF3401FE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381" y="6356350"/>
            <a:ext cx="759691" cy="365125"/>
          </a:xfrm>
        </p:spPr>
        <p:txBody>
          <a:bodyPr/>
          <a:lstStyle/>
          <a:p>
            <a:fld id="{06A44ADC-FBC0-4698-B0EC-1AD4A4060383}" type="slidenum">
              <a:rPr lang="en-GB" smtClean="0">
                <a:solidFill>
                  <a:schemeClr val="tx1"/>
                </a:solidFill>
              </a:rPr>
              <a:t>4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6123BAF-7870-1238-AA77-62E30DC63B84}"/>
              </a:ext>
            </a:extLst>
          </p:cNvPr>
          <p:cNvSpPr/>
          <p:nvPr/>
        </p:nvSpPr>
        <p:spPr>
          <a:xfrm>
            <a:off x="655320" y="1309815"/>
            <a:ext cx="5440680" cy="1248033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filtering</a:t>
            </a:r>
          </a:p>
          <a:p>
            <a:endParaRPr lang="en-US" b="1" dirty="0">
              <a:solidFill>
                <a:srgbClr val="0085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year, dataset, measure, view, geography and available breakdown variables.</a:t>
            </a:r>
            <a:endParaRPr lang="en-US" dirty="0"/>
          </a:p>
          <a:p>
            <a:endParaRPr lang="en-US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687A0C1E-0FB1-9E06-4EBE-B51F0D664D9D}"/>
              </a:ext>
            </a:extLst>
          </p:cNvPr>
          <p:cNvSpPr/>
          <p:nvPr/>
        </p:nvSpPr>
        <p:spPr>
          <a:xfrm>
            <a:off x="655320" y="2699580"/>
            <a:ext cx="5440680" cy="1248033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512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aggregation</a:t>
            </a:r>
            <a:endParaRPr lang="en-US" dirty="0"/>
          </a:p>
          <a:p>
            <a:endParaRPr lang="en-US" b="1" dirty="0">
              <a:solidFill>
                <a:srgbClr val="0085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results across selected dimensions to answer specific analytical questions</a:t>
            </a:r>
            <a:endParaRPr lang="en-US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52D3CF44-A1E2-639F-B4E0-7315D989134C}"/>
              </a:ext>
            </a:extLst>
          </p:cNvPr>
          <p:cNvSpPr/>
          <p:nvPr/>
        </p:nvSpPr>
        <p:spPr>
          <a:xfrm>
            <a:off x="655320" y="4089345"/>
            <a:ext cx="5440680" cy="1248032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00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</a:t>
            </a:r>
            <a:r>
              <a:rPr lang="en-US" b="1" dirty="0" err="1">
                <a:solidFill>
                  <a:srgbClr val="00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</a:t>
            </a:r>
            <a:endParaRPr lang="en-US" b="1" dirty="0">
              <a:solidFill>
                <a:srgbClr val="0085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charts to support interpretation and exploratory analysis.</a:t>
            </a:r>
            <a:endParaRPr lang="en-US" dirty="0"/>
          </a:p>
          <a:p>
            <a:endParaRPr lang="en-US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67ABE52F-9177-F071-A068-BCA3B78DB605}"/>
              </a:ext>
            </a:extLst>
          </p:cNvPr>
          <p:cNvSpPr/>
          <p:nvPr/>
        </p:nvSpPr>
        <p:spPr>
          <a:xfrm>
            <a:off x="6182497" y="1309814"/>
            <a:ext cx="5354183" cy="1248033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512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pipeline</a:t>
            </a:r>
          </a:p>
          <a:p>
            <a:endParaRPr lang="en-US" b="1" dirty="0">
              <a:solidFill>
                <a:srgbClr val="512698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and structure CSVs with future scalable option for SQL or DAC.</a:t>
            </a:r>
            <a:endParaRPr lang="en-US" dirty="0"/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21DE64-2C6A-58F1-42BC-0051EBBC3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503" y="2843048"/>
            <a:ext cx="2795752" cy="263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1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9238193-C1A1-487C-942E-DA6BC0C68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4072" cy="978729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lessons learned</a:t>
            </a:r>
            <a:br>
              <a:rPr lang="en-US" dirty="0"/>
            </a:b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4236CF-A5CF-4FAD-999E-EC0829087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440000"/>
            <a:ext cx="5580000" cy="462304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512698"/>
                </a:solidFill>
              </a:rPr>
              <a:t>Challenges encountered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CSVs can affect app loading and filtering speed.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are influenced by previous aggregation carried out on the data.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choice matters: CSVs are quick to prototype, while SQL or DAC may be more scalable.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versus external use affects disclosure control and suppression decisions.</a:t>
            </a:r>
            <a:endParaRPr lang="en-US" sz="1800" b="0" dirty="0"/>
          </a:p>
          <a:p>
            <a:endParaRPr lang="en-US" sz="24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13547B9-F180-46BD-A192-1E2E8100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072" y="1440000"/>
            <a:ext cx="5580000" cy="462304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857A"/>
                </a:solidFill>
              </a:rPr>
              <a:t>What I learned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proof of concept, then </a:t>
            </a:r>
            <a:r>
              <a:rPr lang="en-US" sz="1800" b="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</a:t>
            </a: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around the evidence from real data size and user </a:t>
            </a:r>
            <a:r>
              <a:rPr lang="en-US" sz="1800" b="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user journey simple: filters first, aggregations next, charts and tables clearly linked.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and plain English need to be built into the slide deck and app design from the start.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documented data pipeline is as important as the front-end prototype.</a:t>
            </a:r>
            <a:endParaRPr lang="en-US" sz="1800" b="0" dirty="0"/>
          </a:p>
          <a:p>
            <a:endParaRPr lang="en-US" sz="2400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96EC6838-3654-4EBA-9626-7E3B1D02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3281" y="6356350"/>
            <a:ext cx="6380018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9E4EA754-43DA-4179-A169-E9FF2FDE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381" y="6356350"/>
            <a:ext cx="759691" cy="365125"/>
          </a:xfrm>
        </p:spPr>
        <p:txBody>
          <a:bodyPr/>
          <a:lstStyle/>
          <a:p>
            <a:fld id="{06A44ADC-FBC0-4698-B0EC-1AD4A4060383}" type="slidenum">
              <a:rPr lang="en-GB" smtClean="0">
                <a:solidFill>
                  <a:schemeClr val="tx1"/>
                </a:solidFill>
              </a:rPr>
              <a:t>5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9207913-3223-AE7A-6C28-C623968E9E96}"/>
              </a:ext>
            </a:extLst>
          </p:cNvPr>
          <p:cNvSpPr/>
          <p:nvPr/>
        </p:nvSpPr>
        <p:spPr>
          <a:xfrm>
            <a:off x="411480" y="5257800"/>
            <a:ext cx="11430000" cy="640080"/>
          </a:xfrm>
          <a:prstGeom prst="roundRect">
            <a:avLst>
              <a:gd name="adj" fmla="val 28571"/>
            </a:avLst>
          </a:prstGeom>
          <a:solidFill>
            <a:srgbClr val="E8F6F4"/>
          </a:solidFill>
          <a:ln w="15875">
            <a:solidFill>
              <a:srgbClr val="00857A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3045B0A-769B-B1FD-E1F2-0ABC8F491AAE}"/>
              </a:ext>
            </a:extLst>
          </p:cNvPr>
          <p:cNvSpPr/>
          <p:nvPr/>
        </p:nvSpPr>
        <p:spPr>
          <a:xfrm>
            <a:off x="949146" y="544982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</a:rPr>
              <a:t>Improvement focus: performance testing, source comparison, user feedback and preparation for wider deployment.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10686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DD7D-1A6A-41C5-BD0A-8EEEFF15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4072" cy="535531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B34D7-E10A-47B1-AAFD-BBB82FDF6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156924"/>
            <a:ext cx="5580000" cy="535531"/>
          </a:xfrm>
        </p:spPr>
        <p:txBody>
          <a:bodyPr/>
          <a:lstStyle/>
          <a:p>
            <a:r>
              <a:rPr lang="en-US" dirty="0">
                <a:solidFill>
                  <a:srgbClr val="512698"/>
                </a:solidFill>
              </a:rPr>
              <a:t>Suggested demo flow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DA6F7-1971-4647-85BB-7A93DB89E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072" y="2090056"/>
            <a:ext cx="5607928" cy="3858161"/>
          </a:xfrm>
        </p:spPr>
        <p:txBody>
          <a:bodyPr/>
          <a:lstStyle/>
          <a:p>
            <a:endParaRPr lang="en-GB" b="0" dirty="0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7B8F1F1-7888-42EB-94D8-367B08FA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3281" y="6356350"/>
            <a:ext cx="6380018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CFB7744F-6A64-4040-980A-5E92BF3A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381" y="6356350"/>
            <a:ext cx="759691" cy="365125"/>
          </a:xfrm>
        </p:spPr>
        <p:txBody>
          <a:bodyPr/>
          <a:lstStyle/>
          <a:p>
            <a:fld id="{06A44ADC-FBC0-4698-B0EC-1AD4A4060383}" type="slidenum">
              <a:rPr lang="en-GB" smtClean="0">
                <a:solidFill>
                  <a:schemeClr val="tx1"/>
                </a:solidFill>
              </a:rPr>
              <a:t>6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A4820A5-392D-F9B8-F6B3-C5B490C367BC}"/>
              </a:ext>
            </a:extLst>
          </p:cNvPr>
          <p:cNvSpPr/>
          <p:nvPr/>
        </p:nvSpPr>
        <p:spPr>
          <a:xfrm>
            <a:off x="387928" y="2520000"/>
            <a:ext cx="411480" cy="41148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E356597B-551D-1C06-C482-5107F3D84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5216233A-6FFD-CEFB-658A-21914D7DBEB8}"/>
              </a:ext>
            </a:extLst>
          </p:cNvPr>
          <p:cNvSpPr/>
          <p:nvPr/>
        </p:nvSpPr>
        <p:spPr>
          <a:xfrm>
            <a:off x="1078146" y="2603943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Open the app and show the default view.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093858BA-B298-F0FB-971D-401DA8AB9A3F}"/>
              </a:ext>
            </a:extLst>
          </p:cNvPr>
          <p:cNvSpPr/>
          <p:nvPr/>
        </p:nvSpPr>
        <p:spPr>
          <a:xfrm>
            <a:off x="384106" y="3172195"/>
            <a:ext cx="411480" cy="411480"/>
          </a:xfrm>
          <a:prstGeom prst="ellipse">
            <a:avLst/>
          </a:prstGeom>
          <a:solidFill>
            <a:srgbClr val="512698"/>
          </a:solidFill>
          <a:ln w="12700">
            <a:solidFill>
              <a:srgbClr val="51269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56AC901-87C0-EFAF-551D-005D3F3E6B74}"/>
              </a:ext>
            </a:extLst>
          </p:cNvPr>
          <p:cNvSpPr/>
          <p:nvPr/>
        </p:nvSpPr>
        <p:spPr>
          <a:xfrm>
            <a:off x="1074966" y="320956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Choose year, dataset, measure and view.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E619FFDF-3A47-2930-5233-F7EEFA6AD570}"/>
              </a:ext>
            </a:extLst>
          </p:cNvPr>
          <p:cNvSpPr/>
          <p:nvPr/>
        </p:nvSpPr>
        <p:spPr>
          <a:xfrm>
            <a:off x="360000" y="3776525"/>
            <a:ext cx="411480" cy="41148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3</a:t>
            </a: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81B45AC-0B15-E38F-BCFE-2307FD0C110B}"/>
              </a:ext>
            </a:extLst>
          </p:cNvPr>
          <p:cNvSpPr/>
          <p:nvPr/>
        </p:nvSpPr>
        <p:spPr>
          <a:xfrm>
            <a:off x="1022061" y="456986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Apply demographic, service type or geography filters.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FF9845D1-886E-2BCE-C400-44B6ED034B42}"/>
              </a:ext>
            </a:extLst>
          </p:cNvPr>
          <p:cNvSpPr/>
          <p:nvPr/>
        </p:nvSpPr>
        <p:spPr>
          <a:xfrm>
            <a:off x="368514" y="4428720"/>
            <a:ext cx="411480" cy="411480"/>
          </a:xfrm>
          <a:prstGeom prst="ellipse">
            <a:avLst/>
          </a:prstGeom>
          <a:solidFill>
            <a:srgbClr val="512698"/>
          </a:solidFill>
          <a:ln w="12700">
            <a:solidFill>
              <a:srgbClr val="51269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4</a:t>
            </a: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D38A3930-6BC4-83AB-2359-F862AD425C15}"/>
              </a:ext>
            </a:extLst>
          </p:cNvPr>
          <p:cNvSpPr/>
          <p:nvPr/>
        </p:nvSpPr>
        <p:spPr>
          <a:xfrm>
            <a:off x="1022062" y="3867966"/>
            <a:ext cx="4663440" cy="3200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Select aggregation dimensions and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generate the key insights.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B6550C2D-A45B-F84B-5A8E-FD5A8A88083E}"/>
              </a:ext>
            </a:extLst>
          </p:cNvPr>
          <p:cNvSpPr/>
          <p:nvPr/>
        </p:nvSpPr>
        <p:spPr>
          <a:xfrm>
            <a:off x="387928" y="5130967"/>
            <a:ext cx="411480" cy="41148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5</a:t>
            </a: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FEACDDE6-2AF1-5473-E86C-0A0A8D82B795}"/>
              </a:ext>
            </a:extLst>
          </p:cNvPr>
          <p:cNvSpPr/>
          <p:nvPr/>
        </p:nvSpPr>
        <p:spPr>
          <a:xfrm>
            <a:off x="1074966" y="5253986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Interpret chart outputs and export </a:t>
            </a:r>
            <a:r>
              <a:rPr lang="en-US" kern="0" dirty="0">
                <a:solidFill>
                  <a:srgbClr val="000000"/>
                </a:solidFill>
              </a:rPr>
              <a:t>visual/key insight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if required.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9F514748-ED5C-DA8B-2ECE-94B4A82424F1}"/>
              </a:ext>
            </a:extLst>
          </p:cNvPr>
          <p:cNvSpPr/>
          <p:nvPr/>
        </p:nvSpPr>
        <p:spPr>
          <a:xfrm>
            <a:off x="6224072" y="1975531"/>
            <a:ext cx="5242801" cy="3972687"/>
          </a:xfrm>
          <a:prstGeom prst="roundRect">
            <a:avLst>
              <a:gd name="adj" fmla="val 4082"/>
            </a:avLst>
          </a:prstGeom>
          <a:solidFill>
            <a:srgbClr val="F8F4E8"/>
          </a:solidFill>
          <a:ln w="15875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1FE2C46A-B8E7-5C54-65C7-2B54E562D4AA}"/>
              </a:ext>
            </a:extLst>
          </p:cNvPr>
          <p:cNvSpPr/>
          <p:nvPr/>
        </p:nvSpPr>
        <p:spPr>
          <a:xfrm>
            <a:off x="6559472" y="260394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512698"/>
                </a:solidFill>
                <a:effectLst/>
                <a:uLnTx/>
                <a:uFillTx/>
              </a:rPr>
              <a:t>Example question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4377227C-B348-AC31-9950-8F04CB137737}"/>
              </a:ext>
            </a:extLst>
          </p:cNvPr>
          <p:cNvSpPr/>
          <p:nvPr/>
        </p:nvSpPr>
        <p:spPr>
          <a:xfrm>
            <a:off x="6602061" y="3256975"/>
            <a:ext cx="4343400" cy="14455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“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number of people in long-term support at the end of the year (31 March 2025), by age group and delivery mechanism in England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</a:rPr>
              <a:t>?”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4907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BC72B-039E-759F-9364-AA24020A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048922-3306-9309-4FD7-5348F7ECE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280" y="604852"/>
            <a:ext cx="10405919" cy="535531"/>
          </a:xfrm>
        </p:spPr>
        <p:txBody>
          <a:bodyPr/>
          <a:lstStyle/>
          <a:p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future development</a:t>
            </a:r>
            <a:endParaRPr lang="en-US" sz="3200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2245097-9524-95BE-25D2-97304FA5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3281" y="6356350"/>
            <a:ext cx="6380018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13868E8-C9E7-9128-22F8-ADCBDDDE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381" y="6356350"/>
            <a:ext cx="759691" cy="365125"/>
          </a:xfrm>
        </p:spPr>
        <p:txBody>
          <a:bodyPr/>
          <a:lstStyle/>
          <a:p>
            <a:fld id="{06A44ADC-FBC0-4698-B0EC-1AD4A4060383}" type="slidenum">
              <a:rPr lang="en-GB" smtClean="0">
                <a:solidFill>
                  <a:schemeClr val="tx1"/>
                </a:solidFill>
              </a:rPr>
              <a:t>7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E8A63C9-D0D4-99D6-A40C-3AA8D0CEB003}"/>
              </a:ext>
            </a:extLst>
          </p:cNvPr>
          <p:cNvSpPr/>
          <p:nvPr/>
        </p:nvSpPr>
        <p:spPr>
          <a:xfrm>
            <a:off x="655320" y="1309815"/>
            <a:ext cx="5440680" cy="1248033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 b="1" dirty="0">
              <a:solidFill>
                <a:srgbClr val="0085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b="1" dirty="0">
              <a:solidFill>
                <a:srgbClr val="0085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A6DD0F4-729A-F425-34E6-3F6602C00A2D}"/>
              </a:ext>
            </a:extLst>
          </p:cNvPr>
          <p:cNvSpPr/>
          <p:nvPr/>
        </p:nvSpPr>
        <p:spPr>
          <a:xfrm>
            <a:off x="655320" y="2727279"/>
            <a:ext cx="5440680" cy="1220334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 b="1" dirty="0">
              <a:solidFill>
                <a:srgbClr val="0085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55CFF52E-13D8-F85D-63FD-BB01716CADA1}"/>
              </a:ext>
            </a:extLst>
          </p:cNvPr>
          <p:cNvSpPr/>
          <p:nvPr/>
        </p:nvSpPr>
        <p:spPr>
          <a:xfrm>
            <a:off x="655320" y="4134021"/>
            <a:ext cx="5440680" cy="1203356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C101E1D-CDD3-5E7A-120E-98144FB6120C}"/>
              </a:ext>
            </a:extLst>
          </p:cNvPr>
          <p:cNvSpPr/>
          <p:nvPr/>
        </p:nvSpPr>
        <p:spPr>
          <a:xfrm>
            <a:off x="6175466" y="1337513"/>
            <a:ext cx="5440680" cy="1220334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016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 b="1" dirty="0">
              <a:solidFill>
                <a:srgbClr val="51269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b="1" dirty="0">
              <a:solidFill>
                <a:srgbClr val="512698"/>
              </a:solidFill>
              <a:latin typeface="Arial" pitchFamily="34" charset="0"/>
              <a:cs typeface="Arial" pitchFamily="34" charset="-120"/>
            </a:endParaRPr>
          </a:p>
          <a:p>
            <a:endParaRPr lang="en-US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108B109-6233-9630-9A36-EAD00301626C}"/>
              </a:ext>
            </a:extLst>
          </p:cNvPr>
          <p:cNvSpPr/>
          <p:nvPr/>
        </p:nvSpPr>
        <p:spPr>
          <a:xfrm flipH="1">
            <a:off x="668658" y="1309815"/>
            <a:ext cx="82456" cy="1248032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5740C7A-2447-034C-F906-2025D2B3AC4B}"/>
              </a:ext>
            </a:extLst>
          </p:cNvPr>
          <p:cNvSpPr/>
          <p:nvPr/>
        </p:nvSpPr>
        <p:spPr>
          <a:xfrm>
            <a:off x="850174" y="1401187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impact</a:t>
            </a:r>
            <a:endParaRPr lang="en-US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3F31ABB-BF92-109A-37A0-F9A3E3BBF067}"/>
              </a:ext>
            </a:extLst>
          </p:cNvPr>
          <p:cNvSpPr/>
          <p:nvPr/>
        </p:nvSpPr>
        <p:spPr>
          <a:xfrm>
            <a:off x="850174" y="1897383"/>
            <a:ext cx="4892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tailored exploration of ASC Activity data and less reliance on static outputs.</a:t>
            </a:r>
            <a:endParaRPr lang="en-US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F44F5E7-FA66-E598-2B03-94964A9A323A}"/>
              </a:ext>
            </a:extLst>
          </p:cNvPr>
          <p:cNvSpPr/>
          <p:nvPr/>
        </p:nvSpPr>
        <p:spPr>
          <a:xfrm>
            <a:off x="873034" y="2804991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12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impact</a:t>
            </a:r>
            <a:endParaRPr lang="en-US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D28C991B-0110-F92C-84EB-88FCFBA457CF}"/>
              </a:ext>
            </a:extLst>
          </p:cNvPr>
          <p:cNvSpPr/>
          <p:nvPr/>
        </p:nvSpPr>
        <p:spPr>
          <a:xfrm>
            <a:off x="655320" y="2727279"/>
            <a:ext cx="82456" cy="1220334"/>
          </a:xfrm>
          <a:prstGeom prst="rect">
            <a:avLst/>
          </a:prstGeom>
          <a:solidFill>
            <a:srgbClr val="512698"/>
          </a:solidFill>
          <a:ln w="12700">
            <a:solidFill>
              <a:srgbClr val="5126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2814184-1E40-1E06-7A04-86C669A5D91C}"/>
              </a:ext>
            </a:extLst>
          </p:cNvPr>
          <p:cNvSpPr/>
          <p:nvPr/>
        </p:nvSpPr>
        <p:spPr>
          <a:xfrm>
            <a:off x="895894" y="3256781"/>
            <a:ext cx="4892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access for non-technical users across policy, operational and analytical teams.</a:t>
            </a:r>
            <a:endParaRPr lang="en-US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2819DA5-C1B6-7106-1DCD-08EE703EC017}"/>
              </a:ext>
            </a:extLst>
          </p:cNvPr>
          <p:cNvSpPr/>
          <p:nvPr/>
        </p:nvSpPr>
        <p:spPr>
          <a:xfrm>
            <a:off x="850174" y="41340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857A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Technical next steps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2C58D5D1-8964-8EEA-C5F8-CBE7C80373BF}"/>
              </a:ext>
            </a:extLst>
          </p:cNvPr>
          <p:cNvSpPr/>
          <p:nvPr/>
        </p:nvSpPr>
        <p:spPr>
          <a:xfrm flipH="1">
            <a:off x="668658" y="4134022"/>
            <a:ext cx="82456" cy="1203355"/>
          </a:xfrm>
          <a:prstGeom prst="rect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2343B075-FE17-E5B3-DA00-25468EDB2C65}"/>
              </a:ext>
            </a:extLst>
          </p:cNvPr>
          <p:cNvSpPr/>
          <p:nvPr/>
        </p:nvSpPr>
        <p:spPr>
          <a:xfrm>
            <a:off x="861199" y="4740502"/>
            <a:ext cx="4892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UK map interactive and getting the app on the DHSC template.</a:t>
            </a:r>
            <a:endParaRPr lang="en-US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B45C9A18-5B25-7F1E-1978-321078A5B779}"/>
              </a:ext>
            </a:extLst>
          </p:cNvPr>
          <p:cNvSpPr/>
          <p:nvPr/>
        </p:nvSpPr>
        <p:spPr>
          <a:xfrm>
            <a:off x="6449786" y="134750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126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opportunities</a:t>
            </a:r>
            <a:endParaRPr lang="en-US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9727ECDC-FEE4-D128-0824-686625284A47}"/>
              </a:ext>
            </a:extLst>
          </p:cNvPr>
          <p:cNvSpPr/>
          <p:nvPr/>
        </p:nvSpPr>
        <p:spPr>
          <a:xfrm>
            <a:off x="6449786" y="1933831"/>
            <a:ext cx="4892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tool to additional ASC datasets and prepare a route from prototype to robust service.</a:t>
            </a:r>
            <a:endParaRPr lang="en-US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99606896-D4C4-7027-A6FD-140BA5D1D653}"/>
              </a:ext>
            </a:extLst>
          </p:cNvPr>
          <p:cNvSpPr/>
          <p:nvPr/>
        </p:nvSpPr>
        <p:spPr>
          <a:xfrm>
            <a:off x="6188942" y="1337513"/>
            <a:ext cx="82456" cy="1220334"/>
          </a:xfrm>
          <a:prstGeom prst="rect">
            <a:avLst/>
          </a:prstGeom>
          <a:solidFill>
            <a:srgbClr val="512698"/>
          </a:solidFill>
          <a:ln w="12700">
            <a:solidFill>
              <a:srgbClr val="5126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0B940885-1D63-AB34-350B-6631485347F9}"/>
              </a:ext>
            </a:extLst>
          </p:cNvPr>
          <p:cNvSpPr/>
          <p:nvPr/>
        </p:nvSpPr>
        <p:spPr>
          <a:xfrm>
            <a:off x="7579723" y="2774542"/>
            <a:ext cx="2377440" cy="2377440"/>
          </a:xfrm>
          <a:prstGeom prst="arc">
            <a:avLst/>
          </a:prstGeom>
          <a:noFill/>
          <a:ln w="76200">
            <a:solidFill>
              <a:srgbClr val="008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FCE58F17-F39F-C22D-6CB5-48062224B887}"/>
              </a:ext>
            </a:extLst>
          </p:cNvPr>
          <p:cNvSpPr/>
          <p:nvPr/>
        </p:nvSpPr>
        <p:spPr>
          <a:xfrm rot="10800000">
            <a:off x="7707086" y="2991237"/>
            <a:ext cx="2377440" cy="2377440"/>
          </a:xfrm>
          <a:prstGeom prst="arc">
            <a:avLst/>
          </a:prstGeom>
          <a:noFill/>
          <a:ln w="76200">
            <a:solidFill>
              <a:srgbClr val="5126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ED1E657A-E1B6-DCD2-A1CC-E944EC1EEA43}"/>
              </a:ext>
            </a:extLst>
          </p:cNvPr>
          <p:cNvSpPr/>
          <p:nvPr/>
        </p:nvSpPr>
        <p:spPr>
          <a:xfrm>
            <a:off x="7031083" y="3688942"/>
            <a:ext cx="34747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4D4D"/>
                </a:solidFill>
              </a:rPr>
              <a:t>From prototype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4D4D4D"/>
                </a:solidFill>
              </a:rPr>
              <a:t>to scalable tool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391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C8E467-C17E-4A62-9AE5-F52FA95BC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74990"/>
            <a:ext cx="11446163" cy="844839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Key takeaways</a:t>
            </a:r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E9B7707C-6D30-4372-B862-049AB022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3281" y="6356350"/>
            <a:ext cx="6380018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Footer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1D59DEFF-91A2-4D7A-879F-4F2F7217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381" y="6356350"/>
            <a:ext cx="759691" cy="365125"/>
          </a:xfrm>
        </p:spPr>
        <p:txBody>
          <a:bodyPr/>
          <a:lstStyle/>
          <a:p>
            <a:fld id="{06A44ADC-FBC0-4698-B0EC-1AD4A4060383}" type="slidenum">
              <a:rPr lang="en-GB" smtClean="0">
                <a:solidFill>
                  <a:schemeClr val="tx1"/>
                </a:solidFill>
              </a:rPr>
              <a:t>8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8FF1BCCF-C6F3-E41F-C2BF-28E18F5DEEBB}"/>
              </a:ext>
            </a:extLst>
          </p:cNvPr>
          <p:cNvSpPr/>
          <p:nvPr/>
        </p:nvSpPr>
        <p:spPr>
          <a:xfrm>
            <a:off x="359998" y="1219829"/>
            <a:ext cx="640080" cy="64008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5D33726-9880-26A0-08A5-20958C176F38}"/>
              </a:ext>
            </a:extLst>
          </p:cNvPr>
          <p:cNvSpPr/>
          <p:nvPr/>
        </p:nvSpPr>
        <p:spPr>
          <a:xfrm>
            <a:off x="1578428" y="1219829"/>
            <a:ext cx="7043057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 project shifts ASC Activity data access from static reporting towards interactive exploration.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F35CED7C-CBCF-3775-9419-4D637010F262}"/>
              </a:ext>
            </a:extLst>
          </p:cNvPr>
          <p:cNvSpPr/>
          <p:nvPr/>
        </p:nvSpPr>
        <p:spPr>
          <a:xfrm>
            <a:off x="385838" y="2225423"/>
            <a:ext cx="640080" cy="640080"/>
          </a:xfrm>
          <a:prstGeom prst="ellipse">
            <a:avLst/>
          </a:prstGeom>
          <a:solidFill>
            <a:srgbClr val="512698"/>
          </a:solidFill>
          <a:ln w="12700">
            <a:solidFill>
              <a:srgbClr val="51269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A903519-1133-02DE-86DF-85B45862032D}"/>
              </a:ext>
            </a:extLst>
          </p:cNvPr>
          <p:cNvSpPr/>
          <p:nvPr/>
        </p:nvSpPr>
        <p:spPr>
          <a:xfrm>
            <a:off x="1578428" y="2225423"/>
            <a:ext cx="648788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 Shiny is a practical route for a proof-of-concept tool that non-technical users can navigate.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94B124F3-5B0C-1883-2224-BDB04E48E20E}"/>
              </a:ext>
            </a:extLst>
          </p:cNvPr>
          <p:cNvSpPr/>
          <p:nvPr/>
        </p:nvSpPr>
        <p:spPr>
          <a:xfrm>
            <a:off x="385838" y="4537301"/>
            <a:ext cx="640080" cy="640080"/>
          </a:xfrm>
          <a:prstGeom prst="ellipse">
            <a:avLst/>
          </a:prstGeom>
          <a:solidFill>
            <a:srgbClr val="512698"/>
          </a:solidFill>
          <a:ln w="12700">
            <a:solidFill>
              <a:srgbClr val="51269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kern="0" dirty="0">
                <a:solidFill>
                  <a:schemeClr val="bg1"/>
                </a:solidFill>
              </a:rPr>
              <a:t>4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CD5FBB58-3DD4-555C-EC92-F8ADF6F06C95}"/>
              </a:ext>
            </a:extLst>
          </p:cNvPr>
          <p:cNvSpPr/>
          <p:nvPr/>
        </p:nvSpPr>
        <p:spPr>
          <a:xfrm>
            <a:off x="1469571" y="4613886"/>
            <a:ext cx="648788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 prototype creates a reusable foundation for future ASC analytical tools and stakeholder demos.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F7C8595F-91A0-1DE8-9BCD-F4B74F3EDEEF}"/>
              </a:ext>
            </a:extLst>
          </p:cNvPr>
          <p:cNvSpPr/>
          <p:nvPr/>
        </p:nvSpPr>
        <p:spPr>
          <a:xfrm>
            <a:off x="1534633" y="3413620"/>
            <a:ext cx="68038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</a:rPr>
              <a:t>Data type (suppressed CSVs)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source design and disclosure decisions are critical for </a:t>
            </a:r>
            <a:r>
              <a:rPr lang="en-US" kern="0" dirty="0">
                <a:solidFill>
                  <a:srgbClr val="000000"/>
                </a:solidFill>
              </a:rPr>
              <a:t>app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wider use.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3356ECA-101E-8FFC-50AD-F1459BC0A6B9}"/>
              </a:ext>
            </a:extLst>
          </p:cNvPr>
          <p:cNvSpPr/>
          <p:nvPr/>
        </p:nvSpPr>
        <p:spPr>
          <a:xfrm>
            <a:off x="359998" y="3381362"/>
            <a:ext cx="640080" cy="640080"/>
          </a:xfrm>
          <a:prstGeom prst="ellipse">
            <a:avLst/>
          </a:prstGeom>
          <a:solidFill>
            <a:srgbClr val="00857A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3364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1261-D735-4D8B-84F4-44512553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63" y="3556021"/>
            <a:ext cx="7190921" cy="590931"/>
          </a:xfrm>
        </p:spPr>
        <p:txBody>
          <a:bodyPr/>
          <a:lstStyle/>
          <a:p>
            <a:r>
              <a:rPr lang="en-GB" dirty="0"/>
              <a:t>Thanks for listening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9CF2A-7441-B755-DA8B-CBD57A446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420" y="1727655"/>
            <a:ext cx="1893293" cy="1528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1CB496-BB1E-3C5C-96C5-953E45A03818}"/>
              </a:ext>
            </a:extLst>
          </p:cNvPr>
          <p:cNvSpPr txBox="1"/>
          <p:nvPr/>
        </p:nvSpPr>
        <p:spPr>
          <a:xfrm>
            <a:off x="2974428" y="5106393"/>
            <a:ext cx="573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8784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HSC">
      <a:dk1>
        <a:sysClr val="windowText" lastClr="000000"/>
      </a:dk1>
      <a:lt1>
        <a:sysClr val="window" lastClr="FFFFFF"/>
      </a:lt1>
      <a:dk2>
        <a:srgbClr val="616265"/>
      </a:dk2>
      <a:lt2>
        <a:srgbClr val="E0E0E1"/>
      </a:lt2>
      <a:accent1>
        <a:srgbClr val="01A188"/>
      </a:accent1>
      <a:accent2>
        <a:srgbClr val="0063BE"/>
      </a:accent2>
      <a:accent3>
        <a:srgbClr val="E57200"/>
      </a:accent3>
      <a:accent4>
        <a:srgbClr val="512698"/>
      </a:accent4>
      <a:accent5>
        <a:srgbClr val="34B6E4"/>
      </a:accent5>
      <a:accent6>
        <a:srgbClr val="CC092F"/>
      </a:accent6>
      <a:hlink>
        <a:srgbClr val="0063BE"/>
      </a:hlink>
      <a:folHlink>
        <a:srgbClr val="51269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6.4398_DHSC_Ppt_template_DRAFT_v6.potx" id="{FF5623C2-E648-4D18-8D02-A8C6CCA3E916}" vid="{5CEE7835-84B0-457A-AA1D-DEDF797DD0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DHSC PPT</Template>
  <TotalTime>536</TotalTime>
  <Words>646</Words>
  <Application>Microsoft Office PowerPoint</Application>
  <PresentationFormat>Widescreen</PresentationFormat>
  <Paragraphs>98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Interactive Data Access Tool​ for ASC Metrics​ </vt:lpstr>
      <vt:lpstr>The problem: why this project was needed​</vt:lpstr>
      <vt:lpstr>Developing the solution​</vt:lpstr>
      <vt:lpstr>PowerPoint Presentation</vt:lpstr>
      <vt:lpstr>Challenges and lessons learned </vt:lpstr>
      <vt:lpstr>Live demonstration</vt:lpstr>
      <vt:lpstr>PowerPoint Presentation</vt:lpstr>
      <vt:lpstr>Key takeaways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[Add Subject]</dc:subject>
  <dc:creator>Eamyodsin, Nicole</dc:creator>
  <cp:keywords>[Add keywords]; DHSC; PowerPoint Presentation;</cp:keywords>
  <cp:lastModifiedBy>Ogunjimi, Kikelomo</cp:lastModifiedBy>
  <cp:revision>20</cp:revision>
  <dcterms:created xsi:type="dcterms:W3CDTF">2018-09-10T12:23:38Z</dcterms:created>
  <dcterms:modified xsi:type="dcterms:W3CDTF">2026-08-19T19:05:27Z</dcterms:modified>
</cp:coreProperties>
</file>